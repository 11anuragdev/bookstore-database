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1" r:id="rId3"/>
    <p:sldId id="260" r:id="rId4"/>
    <p:sldId id="266" r:id="rId5"/>
    <p:sldId id="262" r:id="rId6"/>
    <p:sldId id="267" r:id="rId7"/>
    <p:sldId id="263" r:id="rId8"/>
    <p:sldId id="264" r:id="rId9"/>
    <p:sldId id="265" r:id="rId10"/>
    <p:sldId id="268" r:id="rId11"/>
    <p:sldId id="269" r:id="rId12"/>
    <p:sldId id="270" r:id="rId13"/>
    <p:sldId id="271" r:id="rId14"/>
    <p:sldId id="272" r:id="rId15"/>
    <p:sldId id="273" r:id="rId16"/>
    <p:sldId id="274"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CFF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00BFCC-CE69-42DA-8C0B-D72503906A72}" type="datetimeFigureOut">
              <a:rPr lang="en-US" smtClean="0"/>
              <a:pPr/>
              <a:t>10/25/2018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AEAB6A-D3C4-4D4F-8725-D253AC5A978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C534CB-82B5-43FE-BC3D-08722FBD3192}" type="datetimeFigureOut">
              <a:rPr lang="en-US" smtClean="0"/>
              <a:pPr/>
              <a:t>10/25/2018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803F8-F064-4581-A0EE-452512A350F4}" type="slidenum">
              <a:rPr lang="en-US" smtClean="0"/>
              <a:pPr/>
              <a:t>‹#›</a:t>
            </a:fld>
            <a:endParaRPr lang="en-US"/>
          </a:p>
        </p:txBody>
      </p:sp>
    </p:spTree>
  </p:cSld>
  <p:clrMapOvr>
    <a:masterClrMapping/>
  </p:clrMapOvr>
  <p:transition spd="slow">
    <p:wipe dir="r"/>
    <p:sndAc>
      <p:stSnd>
        <p:snd r:embed="rId1" name="click.wav" builtIn="1"/>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534CB-82B5-43FE-BC3D-08722FBD3192}" type="datetimeFigureOut">
              <a:rPr lang="en-US" smtClean="0"/>
              <a:pPr/>
              <a:t>10/25/2018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803F8-F064-4581-A0EE-452512A350F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r"/>
    <p:sndAc>
      <p:stSnd>
        <p:snd r:embed="rId13" name="click.wav" builtIn="1"/>
      </p:stSnd>
    </p:sndAc>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8" Type="http://schemas.openxmlformats.org/officeDocument/2006/relationships/hyperlink" Target="https://www.udemy.com/complete-python-bootcamp/" TargetMode="External"/><Relationship Id="rId3" Type="http://schemas.openxmlformats.org/officeDocument/2006/relationships/image" Target="../media/image3.jpeg"/><Relationship Id="rId7" Type="http://schemas.openxmlformats.org/officeDocument/2006/relationships/hyperlink" Target="https://www.wikipedia.org/"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hyperlink" Target="https://www.tutorialspoint.com/sqlite/sqlite_python.htm" TargetMode="External"/><Relationship Id="rId5" Type="http://schemas.openxmlformats.org/officeDocument/2006/relationships/hyperlink" Target="https://www.tutorialspoint.com/python/python_gui_programming.htm" TargetMode="External"/><Relationship Id="rId4" Type="http://schemas.openxmlformats.org/officeDocument/2006/relationships/hyperlink" Target="https://www.google.co.in/imghp?hl=en&amp;tab=wi&amp;authuser=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audio" Target="../media/audio3.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g4.jpg"/>
          <p:cNvPicPr>
            <a:picLocks noChangeAspect="1"/>
          </p:cNvPicPr>
          <p:nvPr/>
        </p:nvPicPr>
        <p:blipFill>
          <a:blip r:embed="rId3"/>
          <a:stretch>
            <a:fillRect/>
          </a:stretch>
        </p:blipFill>
        <p:spPr>
          <a:xfrm>
            <a:off x="-5892" y="0"/>
            <a:ext cx="9155782" cy="6857999"/>
          </a:xfrm>
          <a:prstGeom prst="rect">
            <a:avLst/>
          </a:prstGeom>
        </p:spPr>
      </p:pic>
      <p:sp>
        <p:nvSpPr>
          <p:cNvPr id="6" name="TextBox 5"/>
          <p:cNvSpPr txBox="1"/>
          <p:nvPr/>
        </p:nvSpPr>
        <p:spPr>
          <a:xfrm>
            <a:off x="228600" y="533400"/>
            <a:ext cx="6400800" cy="3046988"/>
          </a:xfrm>
          <a:prstGeom prst="rect">
            <a:avLst/>
          </a:prstGeom>
          <a:noFill/>
        </p:spPr>
        <p:txBody>
          <a:bodyPr wrap="square" rtlCol="0">
            <a:spAutoFit/>
          </a:bodyPr>
          <a:lstStyle/>
          <a:p>
            <a:r>
              <a:rPr lang="en-US" sz="4800" b="1" i="1" dirty="0" smtClean="0">
                <a:solidFill>
                  <a:srgbClr val="C00000"/>
                </a:solidFill>
                <a:effectLst>
                  <a:outerShdw blurRad="38100" dist="38100" dir="2700000" algn="tl">
                    <a:srgbClr val="000000">
                      <a:alpha val="43137"/>
                    </a:srgbClr>
                  </a:outerShdw>
                </a:effectLst>
                <a:latin typeface="Comic Sans MS" pitchFamily="66" charset="0"/>
              </a:rPr>
              <a:t>BOOK STORE </a:t>
            </a:r>
          </a:p>
          <a:p>
            <a:r>
              <a:rPr lang="en-US" sz="4800" b="1" i="1" dirty="0" smtClean="0">
                <a:solidFill>
                  <a:srgbClr val="C00000"/>
                </a:solidFill>
                <a:effectLst>
                  <a:outerShdw blurRad="38100" dist="38100" dir="2700000" algn="tl">
                    <a:srgbClr val="000000">
                      <a:alpha val="43137"/>
                    </a:srgbClr>
                  </a:outerShdw>
                </a:effectLst>
                <a:latin typeface="Comic Sans MS" pitchFamily="66" charset="0"/>
              </a:rPr>
              <a:t>DATABASE </a:t>
            </a:r>
          </a:p>
          <a:p>
            <a:r>
              <a:rPr lang="en-US" sz="4800" b="1" i="1" dirty="0" smtClean="0">
                <a:solidFill>
                  <a:srgbClr val="C00000"/>
                </a:solidFill>
                <a:effectLst>
                  <a:outerShdw blurRad="38100" dist="38100" dir="2700000" algn="tl">
                    <a:srgbClr val="000000">
                      <a:alpha val="43137"/>
                    </a:srgbClr>
                  </a:outerShdw>
                </a:effectLst>
                <a:latin typeface="Comic Sans MS" pitchFamily="66" charset="0"/>
              </a:rPr>
              <a:t>CONNECTIVITY APPLICATION</a:t>
            </a:r>
            <a:endParaRPr lang="en-US" sz="4800" b="1" i="1" dirty="0">
              <a:solidFill>
                <a:srgbClr val="C00000"/>
              </a:solidFill>
              <a:effectLst>
                <a:outerShdw blurRad="38100" dist="38100" dir="2700000" algn="tl">
                  <a:srgbClr val="000000">
                    <a:alpha val="43137"/>
                  </a:srgbClr>
                </a:outerShdw>
              </a:effectLst>
              <a:latin typeface="Comic Sans MS" pitchFamily="66" charset="0"/>
            </a:endParaRPr>
          </a:p>
        </p:txBody>
      </p:sp>
      <p:sp>
        <p:nvSpPr>
          <p:cNvPr id="4" name="TextBox 3"/>
          <p:cNvSpPr txBox="1"/>
          <p:nvPr/>
        </p:nvSpPr>
        <p:spPr>
          <a:xfrm>
            <a:off x="228600" y="3962400"/>
            <a:ext cx="5181600" cy="1938992"/>
          </a:xfrm>
          <a:prstGeom prst="rect">
            <a:avLst/>
          </a:prstGeom>
          <a:noFill/>
        </p:spPr>
        <p:txBody>
          <a:bodyPr wrap="square" rtlCol="0">
            <a:spAutoFit/>
          </a:bodyPr>
          <a:lstStyle/>
          <a:p>
            <a:r>
              <a:rPr lang="en-US" sz="2000" b="1" dirty="0" smtClean="0">
                <a:solidFill>
                  <a:srgbClr val="0033CC"/>
                </a:solidFill>
                <a:latin typeface="Comic Sans MS" pitchFamily="66" charset="0"/>
              </a:rPr>
              <a:t>Prepared By:</a:t>
            </a:r>
          </a:p>
          <a:p>
            <a:r>
              <a:rPr lang="en-US" sz="2000" b="1" dirty="0" smtClean="0">
                <a:solidFill>
                  <a:srgbClr val="0033CC"/>
                </a:solidFill>
                <a:latin typeface="Comic Sans MS" pitchFamily="66" charset="0"/>
              </a:rPr>
              <a:t>Name- Anurag Dev</a:t>
            </a:r>
          </a:p>
          <a:p>
            <a:r>
              <a:rPr lang="en-US" sz="2000" b="1" dirty="0" smtClean="0">
                <a:solidFill>
                  <a:srgbClr val="0033CC"/>
                </a:solidFill>
                <a:latin typeface="Comic Sans MS" pitchFamily="66" charset="0"/>
              </a:rPr>
              <a:t>Enrollment ID- 60314803116</a:t>
            </a:r>
          </a:p>
          <a:p>
            <a:r>
              <a:rPr lang="en-US" sz="2000" b="1" dirty="0" smtClean="0">
                <a:solidFill>
                  <a:srgbClr val="0033CC"/>
                </a:solidFill>
                <a:latin typeface="Comic Sans MS" pitchFamily="66" charset="0"/>
              </a:rPr>
              <a:t>Branch- Information Technology</a:t>
            </a:r>
          </a:p>
          <a:p>
            <a:r>
              <a:rPr lang="en-US" sz="2000" b="1" dirty="0" smtClean="0">
                <a:solidFill>
                  <a:srgbClr val="0033CC"/>
                </a:solidFill>
                <a:latin typeface="Comic Sans MS" pitchFamily="66" charset="0"/>
              </a:rPr>
              <a:t>Group- I 6</a:t>
            </a:r>
          </a:p>
          <a:p>
            <a:r>
              <a:rPr lang="en-US" sz="2000" b="1" dirty="0" smtClean="0">
                <a:solidFill>
                  <a:srgbClr val="0033CC"/>
                </a:solidFill>
                <a:latin typeface="Comic Sans MS" pitchFamily="66" charset="0"/>
              </a:rPr>
              <a:t>College- MAIT Delhi</a:t>
            </a:r>
          </a:p>
        </p:txBody>
      </p:sp>
    </p:spTree>
  </p:cSld>
  <p:clrMapOvr>
    <a:masterClrMapping/>
  </p:clrMapOvr>
  <p:transition spd="slow">
    <p:strips dir="rd"/>
    <p:sndAc>
      <p:stSnd>
        <p:snd r:embed="rId2" name="chimes.wav" builtIn="1"/>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bg5.jpg"/>
          <p:cNvPicPr>
            <a:picLocks noGrp="1" noChangeAspect="1"/>
          </p:cNvPicPr>
          <p:nvPr>
            <p:ph idx="1"/>
          </p:nvPr>
        </p:nvPicPr>
        <p:blipFill>
          <a:blip r:embed="rId3"/>
          <a:stretch>
            <a:fillRect/>
          </a:stretch>
        </p:blipFill>
        <p:spPr>
          <a:xfrm>
            <a:off x="0" y="0"/>
            <a:ext cx="9144000" cy="6858000"/>
          </a:xfrm>
        </p:spPr>
      </p:pic>
      <p:sp>
        <p:nvSpPr>
          <p:cNvPr id="4" name="TextBox 3"/>
          <p:cNvSpPr txBox="1"/>
          <p:nvPr/>
        </p:nvSpPr>
        <p:spPr>
          <a:xfrm>
            <a:off x="1143000" y="457200"/>
            <a:ext cx="7086600" cy="707886"/>
          </a:xfrm>
          <a:prstGeom prst="rect">
            <a:avLst/>
          </a:prstGeom>
          <a:noFill/>
        </p:spPr>
        <p:txBody>
          <a:bodyPr wrap="square" rtlCol="0">
            <a:spAutoFit/>
          </a:bodyPr>
          <a:lstStyle/>
          <a:p>
            <a:r>
              <a:rPr lang="en-US" sz="4000" b="1" dirty="0" smtClean="0">
                <a:latin typeface="Comic Sans MS" pitchFamily="66" charset="0"/>
              </a:rPr>
              <a:t>       </a:t>
            </a:r>
            <a:r>
              <a:rPr lang="en-US" sz="4000" b="1" dirty="0" smtClean="0">
                <a:solidFill>
                  <a:srgbClr val="002060"/>
                </a:solidFill>
                <a:latin typeface="Comic Sans MS" pitchFamily="66" charset="0"/>
              </a:rPr>
              <a:t>CONTENTS</a:t>
            </a:r>
            <a:endParaRPr lang="en-US" sz="4000" b="1" dirty="0">
              <a:solidFill>
                <a:srgbClr val="002060"/>
              </a:solidFill>
              <a:latin typeface="Comic Sans MS" pitchFamily="66" charset="0"/>
            </a:endParaRPr>
          </a:p>
        </p:txBody>
      </p:sp>
      <p:sp>
        <p:nvSpPr>
          <p:cNvPr id="5" name="Content Placeholder 7"/>
          <p:cNvSpPr txBox="1">
            <a:spLocks/>
          </p:cNvSpPr>
          <p:nvPr/>
        </p:nvSpPr>
        <p:spPr>
          <a:xfrm>
            <a:off x="457200" y="1600200"/>
            <a:ext cx="8229600" cy="4525963"/>
          </a:xfrm>
          <a:prstGeom prst="rect">
            <a:avLst/>
          </a:prstGeom>
        </p:spPr>
        <p:txBody>
          <a:bodyPr vert="horz" lIns="91440" tIns="45720" rIns="91440" bIns="45720" rtlCol="0">
            <a:normAutofit/>
          </a:bodyPr>
          <a:lstStyle/>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800" b="0" i="0" u="none" strike="noStrike" kern="1200" cap="none" spc="0" normalizeH="0" baseline="0" noProof="0" dirty="0" smtClean="0">
                <a:ln>
                  <a:noFill/>
                </a:ln>
                <a:solidFill>
                  <a:schemeClr val="tx1"/>
                </a:solidFill>
                <a:effectLst/>
                <a:uLnTx/>
                <a:uFillTx/>
                <a:latin typeface="Comic Sans MS" pitchFamily="66" charset="0"/>
              </a:rPr>
              <a:t>Overview</a:t>
            </a:r>
          </a:p>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lang="en-US" sz="2800" dirty="0" smtClean="0">
                <a:latin typeface="Comic Sans MS" pitchFamily="66" charset="0"/>
              </a:rPr>
              <a:t>Python Introduction </a:t>
            </a:r>
          </a:p>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lang="en-US" sz="2800" dirty="0" smtClean="0">
                <a:latin typeface="Comic Sans MS" pitchFamily="66" charset="0"/>
              </a:rPr>
              <a:t>SQL Introduction</a:t>
            </a:r>
          </a:p>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lang="en-US" sz="2800" dirty="0" smtClean="0">
                <a:latin typeface="Comic Sans MS" pitchFamily="66" charset="0"/>
              </a:rPr>
              <a:t>Front End</a:t>
            </a:r>
          </a:p>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lang="en-US" sz="2800" dirty="0" smtClean="0">
                <a:latin typeface="Comic Sans MS" pitchFamily="66" charset="0"/>
              </a:rPr>
              <a:t>Back End </a:t>
            </a:r>
          </a:p>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lang="en-US" sz="2800" dirty="0" smtClean="0">
                <a:latin typeface="Comic Sans MS" pitchFamily="66" charset="0"/>
              </a:rPr>
              <a:t>Application Features </a:t>
            </a:r>
          </a:p>
          <a:p>
            <a:pPr marL="514350" marR="0" lvl="0" indent="-514350"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800" b="0" i="0" u="none" strike="noStrike" kern="1200" cap="none" spc="0" normalizeH="0" baseline="0" noProof="0" dirty="0" smtClean="0">
                <a:ln>
                  <a:noFill/>
                </a:ln>
                <a:solidFill>
                  <a:schemeClr val="tx1"/>
                </a:solidFill>
                <a:effectLst/>
                <a:uLnTx/>
                <a:uFillTx/>
                <a:latin typeface="Comic Sans MS" pitchFamily="66" charset="0"/>
              </a:rPr>
              <a:t>References</a:t>
            </a:r>
          </a:p>
        </p:txBody>
      </p:sp>
    </p:spTree>
  </p:cSld>
  <p:clrMapOvr>
    <a:masterClrMapping/>
  </p:clrMapOvr>
  <p:transition spd="slow">
    <p:wipe dir="r"/>
    <p:sndAc>
      <p:stSnd>
        <p:snd r:embed="rId2" name="click.wav" builtIn="1"/>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bg2.jpg"/>
          <p:cNvPicPr>
            <a:picLocks noChangeAspect="1"/>
          </p:cNvPicPr>
          <p:nvPr/>
        </p:nvPicPr>
        <p:blipFill>
          <a:blip r:embed="rId3">
            <a:duotone>
              <a:schemeClr val="bg2">
                <a:shade val="45000"/>
                <a:satMod val="135000"/>
              </a:schemeClr>
              <a:prstClr val="white"/>
            </a:duotone>
          </a:blip>
          <a:stretch>
            <a:fillRect/>
          </a:stretch>
        </p:blipFill>
        <p:spPr>
          <a:xfrm>
            <a:off x="0" y="18877"/>
            <a:ext cx="9144000" cy="6834320"/>
          </a:xfrm>
          <a:prstGeom prst="rect">
            <a:avLst/>
          </a:prstGeom>
        </p:spPr>
      </p:pic>
      <p:sp>
        <p:nvSpPr>
          <p:cNvPr id="10" name="TextBox 9"/>
          <p:cNvSpPr txBox="1"/>
          <p:nvPr/>
        </p:nvSpPr>
        <p:spPr>
          <a:xfrm>
            <a:off x="838200" y="381000"/>
            <a:ext cx="7239000" cy="646331"/>
          </a:xfrm>
          <a:prstGeom prst="rect">
            <a:avLst/>
          </a:prstGeom>
          <a:noFill/>
        </p:spPr>
        <p:txBody>
          <a:bodyPr wrap="square" rtlCol="0">
            <a:spAutoFit/>
          </a:bodyPr>
          <a:lstStyle/>
          <a:p>
            <a:r>
              <a:rPr lang="en-US" sz="3600" b="1" dirty="0" smtClean="0">
                <a:solidFill>
                  <a:srgbClr val="C00000"/>
                </a:solidFill>
                <a:latin typeface="Comic Sans MS" pitchFamily="66" charset="0"/>
              </a:rPr>
              <a:t>            Overview</a:t>
            </a:r>
            <a:endParaRPr lang="en-US" sz="3600" b="1" dirty="0">
              <a:solidFill>
                <a:srgbClr val="C00000"/>
              </a:solidFill>
              <a:latin typeface="Comic Sans MS" pitchFamily="66" charset="0"/>
            </a:endParaRPr>
          </a:p>
        </p:txBody>
      </p:sp>
      <p:sp>
        <p:nvSpPr>
          <p:cNvPr id="11" name="TextBox 10"/>
          <p:cNvSpPr txBox="1"/>
          <p:nvPr/>
        </p:nvSpPr>
        <p:spPr>
          <a:xfrm>
            <a:off x="304800" y="1524000"/>
            <a:ext cx="8610600" cy="4893647"/>
          </a:xfrm>
          <a:prstGeom prst="rect">
            <a:avLst/>
          </a:prstGeom>
          <a:noFill/>
        </p:spPr>
        <p:txBody>
          <a:bodyPr wrap="square" rtlCol="0">
            <a:spAutoFit/>
          </a:bodyPr>
          <a:lstStyle/>
          <a:p>
            <a:pPr>
              <a:buFont typeface="Arial" pitchFamily="34" charset="0"/>
              <a:buChar char="•"/>
            </a:pPr>
            <a:r>
              <a:rPr lang="en-US" sz="2400" dirty="0">
                <a:latin typeface="Comic Sans MS" pitchFamily="66" charset="0"/>
              </a:rPr>
              <a:t> </a:t>
            </a:r>
            <a:r>
              <a:rPr lang="en-US" sz="2400" dirty="0" smtClean="0">
                <a:latin typeface="Comic Sans MS" pitchFamily="66" charset="0"/>
              </a:rPr>
              <a:t>This application uses 2 languages one is Python and other is SQL. Python forms the basis for this application. SQL is used for connecting it to database.</a:t>
            </a:r>
          </a:p>
          <a:p>
            <a:pPr>
              <a:buFont typeface="Arial" pitchFamily="34" charset="0"/>
              <a:buChar char="•"/>
            </a:pPr>
            <a:r>
              <a:rPr lang="en-US" sz="2400" dirty="0" smtClean="0">
                <a:latin typeface="Comic Sans MS" pitchFamily="66" charset="0"/>
              </a:rPr>
              <a:t> It is divided in 2 parts: 1. Front End     and     2. Back End</a:t>
            </a:r>
          </a:p>
          <a:p>
            <a:pPr>
              <a:buFont typeface="Arial" pitchFamily="34" charset="0"/>
              <a:buChar char="•"/>
            </a:pPr>
            <a:r>
              <a:rPr lang="en-US" sz="2400" dirty="0" smtClean="0">
                <a:latin typeface="Comic Sans MS" pitchFamily="66" charset="0"/>
              </a:rPr>
              <a:t> Front end forms the GUI part of the application.</a:t>
            </a:r>
          </a:p>
          <a:p>
            <a:pPr>
              <a:buFont typeface="Arial" pitchFamily="34" charset="0"/>
              <a:buChar char="•"/>
            </a:pPr>
            <a:r>
              <a:rPr lang="en-US" sz="2400" dirty="0">
                <a:latin typeface="Comic Sans MS" pitchFamily="66" charset="0"/>
              </a:rPr>
              <a:t> </a:t>
            </a:r>
            <a:r>
              <a:rPr lang="en-US" sz="2400" dirty="0" smtClean="0">
                <a:latin typeface="Comic Sans MS" pitchFamily="66" charset="0"/>
              </a:rPr>
              <a:t>Back end forms the database and information part of the application</a:t>
            </a:r>
          </a:p>
          <a:p>
            <a:pPr>
              <a:buFont typeface="Arial" pitchFamily="34" charset="0"/>
              <a:buChar char="•"/>
            </a:pPr>
            <a:r>
              <a:rPr lang="en-US" sz="2400" dirty="0">
                <a:latin typeface="Comic Sans MS" pitchFamily="66" charset="0"/>
              </a:rPr>
              <a:t> </a:t>
            </a:r>
            <a:r>
              <a:rPr lang="en-US" sz="2400" dirty="0" smtClean="0">
                <a:latin typeface="Comic Sans MS" pitchFamily="66" charset="0"/>
              </a:rPr>
              <a:t>Library of Python used for GUI implementation is Tkinter.</a:t>
            </a:r>
          </a:p>
          <a:p>
            <a:pPr>
              <a:buFont typeface="Arial" pitchFamily="34" charset="0"/>
              <a:buChar char="•"/>
            </a:pPr>
            <a:r>
              <a:rPr lang="en-US" sz="2400" dirty="0">
                <a:latin typeface="Comic Sans MS" pitchFamily="66" charset="0"/>
              </a:rPr>
              <a:t> </a:t>
            </a:r>
            <a:r>
              <a:rPr lang="en-US" sz="2400" dirty="0" smtClean="0">
                <a:latin typeface="Comic Sans MS" pitchFamily="66" charset="0"/>
              </a:rPr>
              <a:t>Library of Python used for implementing SQL commands is Sqlite3.</a:t>
            </a:r>
          </a:p>
          <a:p>
            <a:pPr>
              <a:buFont typeface="Arial" pitchFamily="34" charset="0"/>
              <a:buChar char="•"/>
            </a:pPr>
            <a:r>
              <a:rPr lang="en-US" sz="2400" dirty="0">
                <a:latin typeface="Comic Sans MS" pitchFamily="66" charset="0"/>
              </a:rPr>
              <a:t> </a:t>
            </a:r>
            <a:r>
              <a:rPr lang="en-US" sz="2400" dirty="0" smtClean="0">
                <a:latin typeface="Comic Sans MS" pitchFamily="66" charset="0"/>
              </a:rPr>
              <a:t>This application is very simple to use and is used to manipulate book </a:t>
            </a:r>
            <a:r>
              <a:rPr lang="en-US" sz="2400" dirty="0" smtClean="0">
                <a:latin typeface="Comic Sans MS" pitchFamily="66" charset="0"/>
              </a:rPr>
              <a:t>database by a user.</a:t>
            </a:r>
            <a:endParaRPr lang="en-US" sz="2400" dirty="0">
              <a:latin typeface="Comic Sans MS" pitchFamily="66" charset="0"/>
            </a:endParaRPr>
          </a:p>
        </p:txBody>
      </p:sp>
    </p:spTree>
  </p:cSld>
  <p:clrMapOvr>
    <a:masterClrMapping/>
  </p:clrMapOvr>
  <p:transition spd="slow">
    <p:wipe dir="r"/>
    <p:sndAc>
      <p:stSnd>
        <p:snd r:embed="rId2" name="click.wav" builtIn="1"/>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y_logo.png"/>
          <p:cNvPicPr>
            <a:picLocks noChangeAspect="1"/>
          </p:cNvPicPr>
          <p:nvPr/>
        </p:nvPicPr>
        <p:blipFill>
          <a:blip r:embed="rId3"/>
          <a:stretch>
            <a:fillRect/>
          </a:stretch>
        </p:blipFill>
        <p:spPr>
          <a:xfrm>
            <a:off x="533400" y="1752600"/>
            <a:ext cx="8077200" cy="3352800"/>
          </a:xfrm>
          <a:prstGeom prst="rect">
            <a:avLst/>
          </a:prstGeom>
        </p:spPr>
      </p:pic>
    </p:spTree>
  </p:cSld>
  <p:clrMapOvr>
    <a:masterClrMapping/>
  </p:clrMapOvr>
  <p:transition spd="slow">
    <p:wipe dir="r"/>
    <p:sndAc>
      <p:stSnd>
        <p:snd r:embed="rId2" name="click.wav" builtIn="1"/>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0"/>
            <a:ext cx="9144000" cy="6857999"/>
          </a:xfrm>
        </p:spPr>
      </p:pic>
      <p:sp>
        <p:nvSpPr>
          <p:cNvPr id="5" name="TextBox 4"/>
          <p:cNvSpPr txBox="1"/>
          <p:nvPr/>
        </p:nvSpPr>
        <p:spPr>
          <a:xfrm>
            <a:off x="457200" y="304800"/>
            <a:ext cx="8458200" cy="646331"/>
          </a:xfrm>
          <a:prstGeom prst="rect">
            <a:avLst/>
          </a:prstGeom>
          <a:noFill/>
        </p:spPr>
        <p:txBody>
          <a:bodyPr wrap="square" rtlCol="0">
            <a:spAutoFit/>
          </a:bodyPr>
          <a:lstStyle/>
          <a:p>
            <a:r>
              <a:rPr lang="en-US" sz="3600" b="1" dirty="0" smtClean="0">
                <a:solidFill>
                  <a:srgbClr val="C00000"/>
                </a:solidFill>
                <a:latin typeface="Comic Sans MS" pitchFamily="66" charset="0"/>
              </a:rPr>
              <a:t>    	   Python Introduction</a:t>
            </a:r>
            <a:endParaRPr lang="en-US" sz="3600" b="1" dirty="0">
              <a:solidFill>
                <a:srgbClr val="C00000"/>
              </a:solidFill>
              <a:latin typeface="Comic Sans MS" pitchFamily="66" charset="0"/>
            </a:endParaRPr>
          </a:p>
        </p:txBody>
      </p:sp>
      <p:sp>
        <p:nvSpPr>
          <p:cNvPr id="7" name="TextBox 6"/>
          <p:cNvSpPr txBox="1"/>
          <p:nvPr/>
        </p:nvSpPr>
        <p:spPr>
          <a:xfrm>
            <a:off x="152400" y="1219200"/>
            <a:ext cx="8991600" cy="4401205"/>
          </a:xfrm>
          <a:prstGeom prst="rect">
            <a:avLst/>
          </a:prstGeom>
          <a:noFill/>
        </p:spPr>
        <p:txBody>
          <a:bodyPr wrap="square" rtlCol="0">
            <a:spAutoFit/>
          </a:bodyPr>
          <a:lstStyle/>
          <a:p>
            <a:pPr>
              <a:buFont typeface="Arial" pitchFamily="34" charset="0"/>
              <a:buChar char="•"/>
            </a:pPr>
            <a:r>
              <a:rPr lang="en-US" sz="2000" dirty="0" smtClean="0">
                <a:latin typeface="Comic Sans MS" pitchFamily="66" charset="0"/>
              </a:rPr>
              <a:t> Python is a high level ,interpreted and object oriented programming language developed by Guido Van Rossum  and released in 1991.</a:t>
            </a:r>
          </a:p>
          <a:p>
            <a:pPr>
              <a:buFont typeface="Arial" pitchFamily="34" charset="0"/>
              <a:buChar char="•"/>
            </a:pPr>
            <a:r>
              <a:rPr lang="en-US" sz="2000" dirty="0" smtClean="0">
                <a:latin typeface="Comic Sans MS" pitchFamily="66" charset="0"/>
              </a:rPr>
              <a:t> Python is based on ABC programming language that itself is based on SETL.</a:t>
            </a:r>
          </a:p>
          <a:p>
            <a:pPr>
              <a:buFont typeface="Arial" pitchFamily="34" charset="0"/>
              <a:buChar char="•"/>
            </a:pPr>
            <a:r>
              <a:rPr lang="en-US" sz="2000" dirty="0">
                <a:latin typeface="Comic Sans MS" pitchFamily="66" charset="0"/>
              </a:rPr>
              <a:t> </a:t>
            </a:r>
            <a:r>
              <a:rPr lang="en-US" sz="2000" dirty="0" smtClean="0">
                <a:latin typeface="Comic Sans MS" pitchFamily="66" charset="0"/>
              </a:rPr>
              <a:t>The name of Python language was inspired from BBC TV show </a:t>
            </a:r>
            <a:r>
              <a:rPr lang="en-US" sz="2000" i="1" dirty="0" smtClean="0">
                <a:latin typeface="Comic Sans MS" pitchFamily="66" charset="0"/>
              </a:rPr>
              <a:t>Monty Python Flying Circus</a:t>
            </a:r>
            <a:r>
              <a:rPr lang="en-US" sz="2000" dirty="0" smtClean="0">
                <a:latin typeface="Comic Sans MS" pitchFamily="66" charset="0"/>
              </a:rPr>
              <a:t>.</a:t>
            </a:r>
          </a:p>
          <a:p>
            <a:pPr>
              <a:buFont typeface="Arial" pitchFamily="34" charset="0"/>
              <a:buChar char="•"/>
            </a:pPr>
            <a:r>
              <a:rPr lang="en-US" sz="2000" dirty="0">
                <a:latin typeface="Comic Sans MS" pitchFamily="66" charset="0"/>
              </a:rPr>
              <a:t> </a:t>
            </a:r>
            <a:r>
              <a:rPr lang="en-US" sz="2000" dirty="0" smtClean="0">
                <a:latin typeface="Comic Sans MS" pitchFamily="66" charset="0"/>
              </a:rPr>
              <a:t>Python is dynamically typed and easy to learn programming language.</a:t>
            </a:r>
          </a:p>
          <a:p>
            <a:pPr>
              <a:buFont typeface="Arial" pitchFamily="34" charset="0"/>
              <a:buChar char="•"/>
            </a:pPr>
            <a:r>
              <a:rPr lang="en-US" sz="2000" dirty="0">
                <a:latin typeface="Comic Sans MS" pitchFamily="66" charset="0"/>
              </a:rPr>
              <a:t> </a:t>
            </a:r>
            <a:r>
              <a:rPr lang="en-US" sz="2000" dirty="0" smtClean="0">
                <a:latin typeface="Comic Sans MS" pitchFamily="66" charset="0"/>
              </a:rPr>
              <a:t>Python has automatic memory management.</a:t>
            </a:r>
          </a:p>
          <a:p>
            <a:pPr>
              <a:buFont typeface="Arial" pitchFamily="34" charset="0"/>
              <a:buChar char="•"/>
            </a:pPr>
            <a:r>
              <a:rPr lang="en-US" sz="2000" dirty="0">
                <a:latin typeface="Comic Sans MS" pitchFamily="66" charset="0"/>
              </a:rPr>
              <a:t> </a:t>
            </a:r>
            <a:r>
              <a:rPr lang="en-US" sz="2000" dirty="0" smtClean="0">
                <a:latin typeface="Comic Sans MS" pitchFamily="66" charset="0"/>
              </a:rPr>
              <a:t>Python has various applications in real world like,</a:t>
            </a:r>
            <a:endParaRPr lang="en-US" sz="2000" dirty="0">
              <a:latin typeface="Comic Sans MS" pitchFamily="66" charset="0"/>
            </a:endParaRPr>
          </a:p>
          <a:p>
            <a:r>
              <a:rPr lang="en-US" sz="2000" dirty="0">
                <a:latin typeface="Comic Sans MS" pitchFamily="66" charset="0"/>
              </a:rPr>
              <a:t>	</a:t>
            </a:r>
            <a:r>
              <a:rPr lang="en-US" sz="2000" dirty="0" smtClean="0">
                <a:latin typeface="Comic Sans MS" pitchFamily="66" charset="0"/>
              </a:rPr>
              <a:t>1. Hacking</a:t>
            </a:r>
          </a:p>
          <a:p>
            <a:r>
              <a:rPr lang="en-US" sz="2000" dirty="0">
                <a:latin typeface="Comic Sans MS" pitchFamily="66" charset="0"/>
              </a:rPr>
              <a:t>	</a:t>
            </a:r>
            <a:r>
              <a:rPr lang="en-US" sz="2000" dirty="0" smtClean="0">
                <a:latin typeface="Comic Sans MS" pitchFamily="66" charset="0"/>
              </a:rPr>
              <a:t>2. Web Development </a:t>
            </a:r>
          </a:p>
          <a:p>
            <a:r>
              <a:rPr lang="en-US" sz="2000" dirty="0">
                <a:latin typeface="Comic Sans MS" pitchFamily="66" charset="0"/>
              </a:rPr>
              <a:t>	</a:t>
            </a:r>
            <a:r>
              <a:rPr lang="en-US" sz="2000" dirty="0" smtClean="0">
                <a:latin typeface="Comic Sans MS" pitchFamily="66" charset="0"/>
              </a:rPr>
              <a:t>3. Machine Learning</a:t>
            </a:r>
          </a:p>
          <a:p>
            <a:r>
              <a:rPr lang="en-US" sz="2000" dirty="0">
                <a:latin typeface="Comic Sans MS" pitchFamily="66" charset="0"/>
              </a:rPr>
              <a:t>	</a:t>
            </a:r>
            <a:r>
              <a:rPr lang="en-US" sz="2000" dirty="0" smtClean="0">
                <a:latin typeface="Comic Sans MS" pitchFamily="66" charset="0"/>
              </a:rPr>
              <a:t>4. Game Development </a:t>
            </a:r>
          </a:p>
          <a:p>
            <a:r>
              <a:rPr lang="en-US" sz="2000" dirty="0">
                <a:latin typeface="Comic Sans MS" pitchFamily="66" charset="0"/>
              </a:rPr>
              <a:t>	</a:t>
            </a:r>
            <a:r>
              <a:rPr lang="en-US" sz="2000" dirty="0" smtClean="0">
                <a:latin typeface="Comic Sans MS" pitchFamily="66" charset="0"/>
              </a:rPr>
              <a:t>5. Android Development and many more…</a:t>
            </a:r>
          </a:p>
        </p:txBody>
      </p:sp>
    </p:spTree>
  </p:cSld>
  <p:clrMapOvr>
    <a:masterClrMapping/>
  </p:clrMapOvr>
  <p:transition spd="slow">
    <p:wipe dir="r"/>
    <p:sndAc>
      <p:stSnd>
        <p:snd r:embed="rId2" name="click.wav" builtIn="1"/>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g2.jpg"/>
          <p:cNvPicPr>
            <a:picLocks noChangeAspect="1"/>
          </p:cNvPicPr>
          <p:nvPr/>
        </p:nvPicPr>
        <p:blipFill>
          <a:blip r:embed="rId3"/>
          <a:stretch>
            <a:fillRect/>
          </a:stretch>
        </p:blipFill>
        <p:spPr>
          <a:xfrm>
            <a:off x="380998" y="990600"/>
            <a:ext cx="8641082" cy="4800600"/>
          </a:xfrm>
          <a:prstGeom prst="rect">
            <a:avLst/>
          </a:prstGeom>
        </p:spPr>
      </p:pic>
    </p:spTree>
  </p:cSld>
  <p:clrMapOvr>
    <a:masterClrMapping/>
  </p:clrMapOvr>
  <p:transition spd="slow">
    <p:wipe dir="r"/>
    <p:sndAc>
      <p:stSnd>
        <p:snd r:embed="rId2" name="click.wav" builtIn="1"/>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1"/>
            <a:ext cx="9144000" cy="6857999"/>
          </a:xfrm>
        </p:spPr>
      </p:pic>
      <p:sp>
        <p:nvSpPr>
          <p:cNvPr id="5" name="TextBox 4"/>
          <p:cNvSpPr txBox="1"/>
          <p:nvPr/>
        </p:nvSpPr>
        <p:spPr>
          <a:xfrm>
            <a:off x="457200" y="304801"/>
            <a:ext cx="8305800" cy="707886"/>
          </a:xfrm>
          <a:prstGeom prst="rect">
            <a:avLst/>
          </a:prstGeom>
          <a:noFill/>
        </p:spPr>
        <p:txBody>
          <a:bodyPr wrap="square" rtlCol="0">
            <a:spAutoFit/>
          </a:bodyPr>
          <a:lstStyle/>
          <a:p>
            <a:r>
              <a:rPr lang="en-US" sz="4000" b="1" dirty="0" smtClean="0">
                <a:solidFill>
                  <a:srgbClr val="C00000"/>
                </a:solidFill>
                <a:latin typeface="Comic Sans MS" pitchFamily="66" charset="0"/>
              </a:rPr>
              <a:t>	    SQL Introduction</a:t>
            </a:r>
            <a:endParaRPr lang="en-US" sz="4000" b="1" dirty="0">
              <a:solidFill>
                <a:srgbClr val="C00000"/>
              </a:solidFill>
              <a:latin typeface="Comic Sans MS" pitchFamily="66" charset="0"/>
            </a:endParaRPr>
          </a:p>
        </p:txBody>
      </p:sp>
      <p:sp>
        <p:nvSpPr>
          <p:cNvPr id="7" name="TextBox 6"/>
          <p:cNvSpPr txBox="1"/>
          <p:nvPr/>
        </p:nvSpPr>
        <p:spPr>
          <a:xfrm>
            <a:off x="0" y="1447800"/>
            <a:ext cx="9144000" cy="4093428"/>
          </a:xfrm>
          <a:prstGeom prst="rect">
            <a:avLst/>
          </a:prstGeom>
          <a:noFill/>
        </p:spPr>
        <p:txBody>
          <a:bodyPr wrap="square" rtlCol="0">
            <a:spAutoFit/>
          </a:bodyPr>
          <a:lstStyle/>
          <a:p>
            <a:pPr>
              <a:buFont typeface="Arial" pitchFamily="34" charset="0"/>
              <a:buChar char="•"/>
            </a:pPr>
            <a:r>
              <a:rPr lang="en-US" sz="2000" dirty="0" smtClean="0">
                <a:latin typeface="Comic Sans MS" pitchFamily="66" charset="0"/>
              </a:rPr>
              <a:t> Structured Query Language (SQL) was </a:t>
            </a:r>
            <a:r>
              <a:rPr lang="en-US" sz="2000" dirty="0">
                <a:latin typeface="Comic Sans MS" pitchFamily="66" charset="0"/>
              </a:rPr>
              <a:t>developed in the early 1970s at IBM by Raymond Boyce and Donald </a:t>
            </a:r>
            <a:r>
              <a:rPr lang="en-US" sz="2000" dirty="0" smtClean="0">
                <a:latin typeface="Comic Sans MS" pitchFamily="66" charset="0"/>
              </a:rPr>
              <a:t>Chamberlin.</a:t>
            </a:r>
          </a:p>
          <a:p>
            <a:pPr>
              <a:buFont typeface="Arial" pitchFamily="34" charset="0"/>
              <a:buChar char="•"/>
            </a:pPr>
            <a:r>
              <a:rPr lang="en-US" sz="2000" dirty="0">
                <a:latin typeface="Comic Sans MS" pitchFamily="66" charset="0"/>
              </a:rPr>
              <a:t> </a:t>
            </a:r>
            <a:r>
              <a:rPr lang="en-US" sz="2000" dirty="0" smtClean="0">
                <a:latin typeface="Comic Sans MS" pitchFamily="66" charset="0"/>
              </a:rPr>
              <a:t>SQL is  used for relational database management and data manipulation.</a:t>
            </a:r>
          </a:p>
          <a:p>
            <a:pPr>
              <a:buFont typeface="Arial" pitchFamily="34" charset="0"/>
              <a:buChar char="•"/>
            </a:pPr>
            <a:r>
              <a:rPr lang="en-US" sz="2000" dirty="0">
                <a:latin typeface="Comic Sans MS" pitchFamily="66" charset="0"/>
              </a:rPr>
              <a:t> </a:t>
            </a:r>
            <a:r>
              <a:rPr lang="en-US" sz="2000" dirty="0" smtClean="0">
                <a:latin typeface="Comic Sans MS" pitchFamily="66" charset="0"/>
              </a:rPr>
              <a:t>SQL is used to create database and to query, insert, update and modify data stored in database.</a:t>
            </a:r>
          </a:p>
          <a:p>
            <a:pPr>
              <a:buFont typeface="Arial" pitchFamily="34" charset="0"/>
              <a:buChar char="•"/>
            </a:pPr>
            <a:r>
              <a:rPr lang="en-US" sz="2000" dirty="0">
                <a:latin typeface="Comic Sans MS" pitchFamily="66" charset="0"/>
              </a:rPr>
              <a:t> </a:t>
            </a:r>
            <a:r>
              <a:rPr lang="en-US" sz="2000" dirty="0" smtClean="0">
                <a:latin typeface="Comic Sans MS" pitchFamily="66" charset="0"/>
              </a:rPr>
              <a:t>SQL queries are generally divided into 3 main categories:</a:t>
            </a:r>
          </a:p>
          <a:p>
            <a:r>
              <a:rPr lang="en-US" sz="2000" dirty="0" smtClean="0">
                <a:latin typeface="Comic Sans MS" pitchFamily="66" charset="0"/>
              </a:rPr>
              <a:t>	1. </a:t>
            </a:r>
            <a:r>
              <a:rPr lang="en-US" sz="2000" b="1" dirty="0" smtClean="0">
                <a:latin typeface="Comic Sans MS" pitchFamily="66" charset="0"/>
              </a:rPr>
              <a:t>Data Definition Language (DDL) </a:t>
            </a:r>
            <a:r>
              <a:rPr lang="en-US" sz="2000" dirty="0" smtClean="0">
                <a:latin typeface="Comic Sans MS" pitchFamily="66" charset="0"/>
              </a:rPr>
              <a:t>like CREATE, ALTER, 	    	    DROP, etc.</a:t>
            </a:r>
          </a:p>
          <a:p>
            <a:r>
              <a:rPr lang="en-US" sz="2000" dirty="0" smtClean="0">
                <a:latin typeface="Comic Sans MS" pitchFamily="66" charset="0"/>
              </a:rPr>
              <a:t>	2. </a:t>
            </a:r>
            <a:r>
              <a:rPr lang="en-US" sz="2000" b="1" dirty="0" smtClean="0">
                <a:latin typeface="Comic Sans MS" pitchFamily="66" charset="0"/>
              </a:rPr>
              <a:t>Data Manipulation Language (DML) </a:t>
            </a:r>
            <a:r>
              <a:rPr lang="en-US" sz="2000" dirty="0" smtClean="0">
                <a:latin typeface="Comic Sans MS" pitchFamily="66" charset="0"/>
              </a:rPr>
              <a:t>like SELECT, 	   	    	    INSERT, UPDATE, DELETE, etc.</a:t>
            </a:r>
          </a:p>
          <a:p>
            <a:r>
              <a:rPr lang="en-US" sz="2000" dirty="0">
                <a:latin typeface="Comic Sans MS" pitchFamily="66" charset="0"/>
              </a:rPr>
              <a:t>	</a:t>
            </a:r>
            <a:r>
              <a:rPr lang="en-US" sz="2000" dirty="0" smtClean="0">
                <a:latin typeface="Comic Sans MS" pitchFamily="66" charset="0"/>
              </a:rPr>
              <a:t>3. </a:t>
            </a:r>
            <a:r>
              <a:rPr lang="en-US" sz="2000" b="1" dirty="0" smtClean="0">
                <a:latin typeface="Comic Sans MS" pitchFamily="66" charset="0"/>
              </a:rPr>
              <a:t>Data Control Language (DCL) </a:t>
            </a:r>
            <a:r>
              <a:rPr lang="en-US" sz="2000" dirty="0" smtClean="0">
                <a:latin typeface="Comic Sans MS" pitchFamily="66" charset="0"/>
              </a:rPr>
              <a:t>like GRANT and 	  	    	    REVOKE</a:t>
            </a:r>
          </a:p>
          <a:p>
            <a:endParaRPr lang="en-US" sz="2000" dirty="0">
              <a:latin typeface="Comic Sans MS" pitchFamily="66" charset="0"/>
            </a:endParaRPr>
          </a:p>
        </p:txBody>
      </p:sp>
    </p:spTree>
  </p:cSld>
  <p:clrMapOvr>
    <a:masterClrMapping/>
  </p:clrMapOvr>
  <p:transition spd="slow">
    <p:wipe dir="r"/>
    <p:sndAc>
      <p:stSnd>
        <p:snd r:embed="rId2" name="click.wav" builtIn="1"/>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1"/>
            <a:ext cx="9144000" cy="6857999"/>
          </a:xfrm>
        </p:spPr>
      </p:pic>
      <p:sp>
        <p:nvSpPr>
          <p:cNvPr id="6" name="TextBox 5"/>
          <p:cNvSpPr txBox="1"/>
          <p:nvPr/>
        </p:nvSpPr>
        <p:spPr>
          <a:xfrm>
            <a:off x="838200" y="533400"/>
            <a:ext cx="7315200" cy="707886"/>
          </a:xfrm>
          <a:prstGeom prst="rect">
            <a:avLst/>
          </a:prstGeom>
          <a:noFill/>
        </p:spPr>
        <p:txBody>
          <a:bodyPr wrap="square" rtlCol="0">
            <a:spAutoFit/>
          </a:bodyPr>
          <a:lstStyle/>
          <a:p>
            <a:r>
              <a:rPr lang="en-US" sz="4000" b="1" dirty="0" smtClean="0">
                <a:solidFill>
                  <a:srgbClr val="C00000"/>
                </a:solidFill>
                <a:latin typeface="Comic Sans MS" pitchFamily="66" charset="0"/>
              </a:rPr>
              <a:t>		 Front End</a:t>
            </a:r>
            <a:endParaRPr lang="en-US" sz="4000" b="1" dirty="0">
              <a:solidFill>
                <a:srgbClr val="C00000"/>
              </a:solidFill>
              <a:latin typeface="Comic Sans MS" pitchFamily="66" charset="0"/>
            </a:endParaRPr>
          </a:p>
        </p:txBody>
      </p:sp>
      <p:sp>
        <p:nvSpPr>
          <p:cNvPr id="7" name="TextBox 6"/>
          <p:cNvSpPr txBox="1"/>
          <p:nvPr/>
        </p:nvSpPr>
        <p:spPr>
          <a:xfrm>
            <a:off x="152400" y="2057400"/>
            <a:ext cx="8991600" cy="3785652"/>
          </a:xfrm>
          <a:prstGeom prst="rect">
            <a:avLst/>
          </a:prstGeom>
          <a:noFill/>
        </p:spPr>
        <p:txBody>
          <a:bodyPr wrap="square" rtlCol="0">
            <a:spAutoFit/>
          </a:bodyPr>
          <a:lstStyle/>
          <a:p>
            <a:pPr>
              <a:buFont typeface="Arial" pitchFamily="34" charset="0"/>
              <a:buChar char="•"/>
            </a:pPr>
            <a:r>
              <a:rPr lang="en-US" sz="2400" dirty="0" smtClean="0">
                <a:latin typeface="Comic Sans MS" pitchFamily="66" charset="0"/>
              </a:rPr>
              <a:t> Front End part of this application contains Graphical User Interface   (GUI) which makes it user friendly and simpler to use.</a:t>
            </a:r>
          </a:p>
          <a:p>
            <a:pPr>
              <a:buFont typeface="Arial" pitchFamily="34" charset="0"/>
              <a:buChar char="•"/>
            </a:pPr>
            <a:r>
              <a:rPr lang="en-US" sz="2400" dirty="0">
                <a:latin typeface="Comic Sans MS" pitchFamily="66" charset="0"/>
              </a:rPr>
              <a:t> </a:t>
            </a:r>
            <a:r>
              <a:rPr lang="en-US" sz="2400" dirty="0" smtClean="0">
                <a:latin typeface="Comic Sans MS" pitchFamily="66" charset="0"/>
              </a:rPr>
              <a:t>GUI is implemented using Tkinter module of Python.</a:t>
            </a:r>
          </a:p>
          <a:p>
            <a:pPr>
              <a:buFont typeface="Arial" pitchFamily="34" charset="0"/>
              <a:buChar char="•"/>
            </a:pPr>
            <a:r>
              <a:rPr lang="en-US" sz="2400" dirty="0">
                <a:latin typeface="Comic Sans MS" pitchFamily="66" charset="0"/>
              </a:rPr>
              <a:t> </a:t>
            </a:r>
            <a:r>
              <a:rPr lang="en-US" sz="2400" dirty="0" smtClean="0">
                <a:latin typeface="Comic Sans MS" pitchFamily="66" charset="0"/>
              </a:rPr>
              <a:t>Many interactive widgets are used in this application like Entry or Textboxes, Buttons, Scrollbar, List boxes, Labels.</a:t>
            </a:r>
          </a:p>
          <a:p>
            <a:pPr>
              <a:buFont typeface="Arial" pitchFamily="34" charset="0"/>
              <a:buChar char="•"/>
            </a:pPr>
            <a:r>
              <a:rPr lang="en-US" sz="2400" dirty="0">
                <a:latin typeface="Comic Sans MS" pitchFamily="66" charset="0"/>
              </a:rPr>
              <a:t> </a:t>
            </a:r>
            <a:r>
              <a:rPr lang="en-US" sz="2400" dirty="0" smtClean="0">
                <a:latin typeface="Comic Sans MS" pitchFamily="66" charset="0"/>
              </a:rPr>
              <a:t>It is the execution part of this application.</a:t>
            </a:r>
          </a:p>
          <a:p>
            <a:pPr>
              <a:buFont typeface="Arial" pitchFamily="34" charset="0"/>
              <a:buChar char="•"/>
            </a:pPr>
            <a:r>
              <a:rPr lang="en-US" sz="2400" dirty="0">
                <a:latin typeface="Comic Sans MS" pitchFamily="66" charset="0"/>
              </a:rPr>
              <a:t> </a:t>
            </a:r>
            <a:r>
              <a:rPr lang="en-US" sz="2400" dirty="0" smtClean="0">
                <a:latin typeface="Comic Sans MS" pitchFamily="66" charset="0"/>
              </a:rPr>
              <a:t>User can add, delete, update, view entries of books in the </a:t>
            </a:r>
            <a:r>
              <a:rPr lang="en-US" sz="2400" dirty="0" smtClean="0">
                <a:latin typeface="Comic Sans MS" pitchFamily="66" charset="0"/>
              </a:rPr>
              <a:t>database by using these widgets.</a:t>
            </a:r>
            <a:endParaRPr lang="en-US" sz="2400" dirty="0" smtClean="0">
              <a:latin typeface="Comic Sans MS" pitchFamily="66" charset="0"/>
            </a:endParaRPr>
          </a:p>
          <a:p>
            <a:pPr>
              <a:buFont typeface="Arial" pitchFamily="34" charset="0"/>
              <a:buChar char="•"/>
            </a:pPr>
            <a:r>
              <a:rPr lang="en-US" sz="2400" dirty="0">
                <a:latin typeface="Comic Sans MS" pitchFamily="66" charset="0"/>
              </a:rPr>
              <a:t> </a:t>
            </a:r>
            <a:r>
              <a:rPr lang="en-US" sz="2400" dirty="0" smtClean="0">
                <a:latin typeface="Comic Sans MS" pitchFamily="66" charset="0"/>
              </a:rPr>
              <a:t>This end of the application is visible to user. </a:t>
            </a:r>
          </a:p>
        </p:txBody>
      </p:sp>
    </p:spTree>
  </p:cSld>
  <p:clrMapOvr>
    <a:masterClrMapping/>
  </p:clrMapOvr>
  <p:transition spd="slow">
    <p:wipe dir="r"/>
    <p:sndAc>
      <p:stSnd>
        <p:snd r:embed="rId2" name="click.wav" builtIn="1"/>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66800" y="457200"/>
            <a:ext cx="7239000" cy="523220"/>
          </a:xfrm>
          <a:prstGeom prst="rect">
            <a:avLst/>
          </a:prstGeom>
          <a:noFill/>
        </p:spPr>
        <p:txBody>
          <a:bodyPr wrap="square" rtlCol="0">
            <a:spAutoFit/>
          </a:bodyPr>
          <a:lstStyle/>
          <a:p>
            <a:r>
              <a:rPr lang="en-US" sz="2800" dirty="0" smtClean="0">
                <a:latin typeface="Comic Sans MS" pitchFamily="66" charset="0"/>
              </a:rPr>
              <a:t>This is the Front End of this application:</a:t>
            </a:r>
            <a:endParaRPr lang="en-US" sz="2800" dirty="0">
              <a:latin typeface="Comic Sans MS" pitchFamily="66" charset="0"/>
            </a:endParaRPr>
          </a:p>
        </p:txBody>
      </p:sp>
      <p:pic>
        <p:nvPicPr>
          <p:cNvPr id="7" name="Picture 6" descr="gui_py.jpeg"/>
          <p:cNvPicPr>
            <a:picLocks noChangeAspect="1"/>
          </p:cNvPicPr>
          <p:nvPr/>
        </p:nvPicPr>
        <p:blipFill>
          <a:blip r:embed="rId3"/>
          <a:stretch>
            <a:fillRect/>
          </a:stretch>
        </p:blipFill>
        <p:spPr>
          <a:xfrm>
            <a:off x="914400" y="1447800"/>
            <a:ext cx="7232432" cy="4392471"/>
          </a:xfrm>
          <a:prstGeom prst="rect">
            <a:avLst/>
          </a:prstGeom>
        </p:spPr>
      </p:pic>
    </p:spTree>
  </p:cSld>
  <p:clrMapOvr>
    <a:masterClrMapping/>
  </p:clrMapOvr>
  <p:transition spd="slow">
    <p:wipe dir="r"/>
    <p:sndAc>
      <p:stSnd>
        <p:snd r:embed="rId2" name="click.wav" builtIn="1"/>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0"/>
            <a:ext cx="9144000" cy="6857999"/>
          </a:xfrm>
        </p:spPr>
      </p:pic>
      <p:sp>
        <p:nvSpPr>
          <p:cNvPr id="5" name="TextBox 4"/>
          <p:cNvSpPr txBox="1"/>
          <p:nvPr/>
        </p:nvSpPr>
        <p:spPr>
          <a:xfrm>
            <a:off x="1295400" y="381000"/>
            <a:ext cx="6324600" cy="707886"/>
          </a:xfrm>
          <a:prstGeom prst="rect">
            <a:avLst/>
          </a:prstGeom>
          <a:noFill/>
        </p:spPr>
        <p:txBody>
          <a:bodyPr wrap="square" rtlCol="0">
            <a:spAutoFit/>
          </a:bodyPr>
          <a:lstStyle/>
          <a:p>
            <a:r>
              <a:rPr lang="en-US" sz="4000" b="1" dirty="0" smtClean="0">
                <a:solidFill>
                  <a:srgbClr val="C00000"/>
                </a:solidFill>
                <a:latin typeface="Comic Sans MS" pitchFamily="66" charset="0"/>
              </a:rPr>
              <a:t>		Back End</a:t>
            </a:r>
            <a:endParaRPr lang="en-US" sz="4000" b="1" dirty="0">
              <a:solidFill>
                <a:srgbClr val="C00000"/>
              </a:solidFill>
              <a:latin typeface="Comic Sans MS" pitchFamily="66" charset="0"/>
            </a:endParaRPr>
          </a:p>
        </p:txBody>
      </p:sp>
      <p:sp>
        <p:nvSpPr>
          <p:cNvPr id="6" name="TextBox 5"/>
          <p:cNvSpPr txBox="1"/>
          <p:nvPr/>
        </p:nvSpPr>
        <p:spPr>
          <a:xfrm>
            <a:off x="152400" y="1752600"/>
            <a:ext cx="8991600" cy="4524315"/>
          </a:xfrm>
          <a:prstGeom prst="rect">
            <a:avLst/>
          </a:prstGeom>
          <a:noFill/>
        </p:spPr>
        <p:txBody>
          <a:bodyPr wrap="square" rtlCol="0">
            <a:spAutoFit/>
          </a:bodyPr>
          <a:lstStyle/>
          <a:p>
            <a:pPr>
              <a:buFont typeface="Arial" pitchFamily="34" charset="0"/>
              <a:buChar char="•"/>
            </a:pPr>
            <a:r>
              <a:rPr lang="en-US" sz="2400" dirty="0" smtClean="0">
                <a:latin typeface="Comic Sans MS" pitchFamily="66" charset="0"/>
              </a:rPr>
              <a:t> Back End part of this application contains the relational database and information about book records present in book store.</a:t>
            </a:r>
          </a:p>
          <a:p>
            <a:pPr>
              <a:buFont typeface="Arial" pitchFamily="34" charset="0"/>
              <a:buChar char="•"/>
            </a:pPr>
            <a:r>
              <a:rPr lang="en-US" sz="2400" dirty="0">
                <a:latin typeface="Comic Sans MS" pitchFamily="66" charset="0"/>
              </a:rPr>
              <a:t> </a:t>
            </a:r>
            <a:r>
              <a:rPr lang="en-US" sz="2400" dirty="0" smtClean="0">
                <a:latin typeface="Comic Sans MS" pitchFamily="66" charset="0"/>
              </a:rPr>
              <a:t>It is manipulated and created using SQL.</a:t>
            </a:r>
          </a:p>
          <a:p>
            <a:pPr>
              <a:buFont typeface="Arial" pitchFamily="34" charset="0"/>
              <a:buChar char="•"/>
            </a:pPr>
            <a:r>
              <a:rPr lang="en-US" sz="2400" dirty="0">
                <a:latin typeface="Comic Sans MS" pitchFamily="66" charset="0"/>
              </a:rPr>
              <a:t> </a:t>
            </a:r>
            <a:r>
              <a:rPr lang="en-US" sz="2400" dirty="0" smtClean="0">
                <a:latin typeface="Comic Sans MS" pitchFamily="66" charset="0"/>
              </a:rPr>
              <a:t>Sqlite3 library of Python is used for implementing SQL.</a:t>
            </a:r>
          </a:p>
          <a:p>
            <a:pPr>
              <a:buFont typeface="Arial" pitchFamily="34" charset="0"/>
              <a:buChar char="•"/>
            </a:pPr>
            <a:r>
              <a:rPr lang="en-US" sz="2400" dirty="0">
                <a:latin typeface="Comic Sans MS" pitchFamily="66" charset="0"/>
              </a:rPr>
              <a:t> </a:t>
            </a:r>
            <a:r>
              <a:rPr lang="en-US" sz="2400" dirty="0" smtClean="0">
                <a:latin typeface="Comic Sans MS" pitchFamily="66" charset="0"/>
              </a:rPr>
              <a:t>The database is stored in </a:t>
            </a:r>
            <a:r>
              <a:rPr lang="en-US" sz="2400" dirty="0" err="1" smtClean="0">
                <a:latin typeface="Comic Sans MS" pitchFamily="66" charset="0"/>
              </a:rPr>
              <a:t>books.db</a:t>
            </a:r>
            <a:r>
              <a:rPr lang="en-US" sz="2400" dirty="0" smtClean="0">
                <a:latin typeface="Comic Sans MS" pitchFamily="66" charset="0"/>
              </a:rPr>
              <a:t> file in the same folder where the project files are stored.</a:t>
            </a:r>
          </a:p>
          <a:p>
            <a:pPr>
              <a:buFont typeface="Arial" pitchFamily="34" charset="0"/>
              <a:buChar char="•"/>
            </a:pPr>
            <a:r>
              <a:rPr lang="en-US" sz="2400" dirty="0">
                <a:latin typeface="Comic Sans MS" pitchFamily="66" charset="0"/>
              </a:rPr>
              <a:t> </a:t>
            </a:r>
            <a:r>
              <a:rPr lang="en-US" sz="2400" dirty="0" smtClean="0">
                <a:latin typeface="Comic Sans MS" pitchFamily="66" charset="0"/>
              </a:rPr>
              <a:t>Back End part of the application remains hidden from user in background.</a:t>
            </a:r>
          </a:p>
          <a:p>
            <a:pPr>
              <a:buFont typeface="Arial" pitchFamily="34" charset="0"/>
              <a:buChar char="•"/>
            </a:pPr>
            <a:r>
              <a:rPr lang="en-US" sz="2400" dirty="0">
                <a:latin typeface="Comic Sans MS" pitchFamily="66" charset="0"/>
              </a:rPr>
              <a:t> </a:t>
            </a:r>
            <a:r>
              <a:rPr lang="en-US" sz="2400" dirty="0" smtClean="0">
                <a:latin typeface="Comic Sans MS" pitchFamily="66" charset="0"/>
              </a:rPr>
              <a:t>User uses various queries like Select, Insert, Update, Delete for various data manipulation operations in relational database.</a:t>
            </a:r>
            <a:endParaRPr lang="en-US" sz="2400" dirty="0">
              <a:latin typeface="Comic Sans MS" pitchFamily="66" charset="0"/>
            </a:endParaRPr>
          </a:p>
        </p:txBody>
      </p:sp>
    </p:spTree>
  </p:cSld>
  <p:clrMapOvr>
    <a:masterClrMapping/>
  </p:clrMapOvr>
  <p:transition spd="slow">
    <p:wipe dir="r"/>
    <p:sndAc>
      <p:stSnd>
        <p:snd r:embed="rId2" name="click.wav" builtIn="1"/>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2000" y="468868"/>
            <a:ext cx="7620000" cy="523220"/>
          </a:xfrm>
          <a:prstGeom prst="rect">
            <a:avLst/>
          </a:prstGeom>
          <a:noFill/>
        </p:spPr>
        <p:txBody>
          <a:bodyPr wrap="square" rtlCol="0">
            <a:spAutoFit/>
          </a:bodyPr>
          <a:lstStyle/>
          <a:p>
            <a:r>
              <a:rPr lang="en-US" sz="2800" dirty="0" smtClean="0">
                <a:latin typeface="Comic Sans MS" pitchFamily="66" charset="0"/>
              </a:rPr>
              <a:t>This is the Back End part of this application:</a:t>
            </a:r>
            <a:endParaRPr lang="en-US" sz="2800" dirty="0">
              <a:latin typeface="Comic Sans MS" pitchFamily="66" charset="0"/>
            </a:endParaRPr>
          </a:p>
        </p:txBody>
      </p:sp>
      <p:graphicFrame>
        <p:nvGraphicFramePr>
          <p:cNvPr id="7" name="Table 6"/>
          <p:cNvGraphicFramePr>
            <a:graphicFrameLocks noGrp="1"/>
          </p:cNvGraphicFramePr>
          <p:nvPr/>
        </p:nvGraphicFramePr>
        <p:xfrm>
          <a:off x="0" y="1828800"/>
          <a:ext cx="3886201" cy="3180080"/>
        </p:xfrm>
        <a:graphic>
          <a:graphicData uri="http://schemas.openxmlformats.org/drawingml/2006/table">
            <a:tbl>
              <a:tblPr firstRow="1" bandRow="1">
                <a:tableStyleId>{5C22544A-7EE6-4342-B048-85BDC9FD1C3A}</a:tableStyleId>
              </a:tblPr>
              <a:tblGrid>
                <a:gridCol w="971550"/>
                <a:gridCol w="1169826"/>
                <a:gridCol w="713792"/>
                <a:gridCol w="1031033"/>
              </a:tblGrid>
              <a:tr h="619760">
                <a:tc>
                  <a:txBody>
                    <a:bodyPr/>
                    <a:lstStyle/>
                    <a:p>
                      <a:r>
                        <a:rPr lang="en-US" dirty="0" smtClean="0"/>
                        <a:t>Title</a:t>
                      </a:r>
                      <a:endParaRPr lang="en-US" dirty="0"/>
                    </a:p>
                  </a:txBody>
                  <a:tcPr/>
                </a:tc>
                <a:tc>
                  <a:txBody>
                    <a:bodyPr/>
                    <a:lstStyle/>
                    <a:p>
                      <a:r>
                        <a:rPr lang="en-US" dirty="0" smtClean="0"/>
                        <a:t>Author</a:t>
                      </a:r>
                      <a:endParaRPr lang="en-US" dirty="0"/>
                    </a:p>
                  </a:txBody>
                  <a:tcPr/>
                </a:tc>
                <a:tc>
                  <a:txBody>
                    <a:bodyPr/>
                    <a:lstStyle/>
                    <a:p>
                      <a:r>
                        <a:rPr lang="en-US" dirty="0" smtClean="0"/>
                        <a:t>Year</a:t>
                      </a:r>
                      <a:endParaRPr lang="en-US" dirty="0"/>
                    </a:p>
                  </a:txBody>
                  <a:tcPr/>
                </a:tc>
                <a:tc>
                  <a:txBody>
                    <a:bodyPr/>
                    <a:lstStyle/>
                    <a:p>
                      <a:r>
                        <a:rPr lang="en-US" dirty="0" smtClean="0"/>
                        <a:t>ISBN</a:t>
                      </a:r>
                      <a:endParaRPr lang="en-US" dirty="0"/>
                    </a:p>
                  </a:txBody>
                  <a:tcPr/>
                </a:tc>
              </a:tr>
              <a:tr h="619760">
                <a:tc>
                  <a:txBody>
                    <a:bodyPr/>
                    <a:lstStyle/>
                    <a:p>
                      <a:r>
                        <a:rPr lang="en-US" dirty="0" smtClean="0"/>
                        <a:t>2 States</a:t>
                      </a:r>
                      <a:endParaRPr lang="en-US" dirty="0"/>
                    </a:p>
                  </a:txBody>
                  <a:tcPr/>
                </a:tc>
                <a:tc>
                  <a:txBody>
                    <a:bodyPr/>
                    <a:lstStyle/>
                    <a:p>
                      <a:r>
                        <a:rPr lang="en-US" dirty="0" smtClean="0"/>
                        <a:t>Chetan Bhagat</a:t>
                      </a:r>
                      <a:endParaRPr lang="en-US" dirty="0"/>
                    </a:p>
                  </a:txBody>
                  <a:tcPr/>
                </a:tc>
                <a:tc>
                  <a:txBody>
                    <a:bodyPr/>
                    <a:lstStyle/>
                    <a:p>
                      <a:r>
                        <a:rPr lang="en-US" dirty="0" smtClean="0"/>
                        <a:t>2008</a:t>
                      </a:r>
                      <a:endParaRPr lang="en-US" dirty="0"/>
                    </a:p>
                  </a:txBody>
                  <a:tcPr/>
                </a:tc>
                <a:tc>
                  <a:txBody>
                    <a:bodyPr/>
                    <a:lstStyle/>
                    <a:p>
                      <a:r>
                        <a:rPr lang="en-US" dirty="0" smtClean="0"/>
                        <a:t>TS123</a:t>
                      </a:r>
                      <a:endParaRPr lang="en-US" dirty="0"/>
                    </a:p>
                  </a:txBody>
                  <a:tcPr/>
                </a:tc>
              </a:tr>
              <a:tr h="619760">
                <a:tc>
                  <a:txBody>
                    <a:bodyPr/>
                    <a:lstStyle/>
                    <a:p>
                      <a:r>
                        <a:rPr lang="en-US" dirty="0" smtClean="0"/>
                        <a:t>Love Story</a:t>
                      </a:r>
                      <a:endParaRPr lang="en-US" dirty="0"/>
                    </a:p>
                  </a:txBody>
                  <a:tcPr/>
                </a:tc>
                <a:tc>
                  <a:txBody>
                    <a:bodyPr/>
                    <a:lstStyle/>
                    <a:p>
                      <a:r>
                        <a:rPr lang="en-US" dirty="0" smtClean="0"/>
                        <a:t>Erich</a:t>
                      </a:r>
                    </a:p>
                    <a:p>
                      <a:r>
                        <a:rPr lang="en-US" dirty="0" smtClean="0"/>
                        <a:t>Sehgal</a:t>
                      </a:r>
                      <a:endParaRPr lang="en-US" dirty="0"/>
                    </a:p>
                  </a:txBody>
                  <a:tcPr/>
                </a:tc>
                <a:tc>
                  <a:txBody>
                    <a:bodyPr/>
                    <a:lstStyle/>
                    <a:p>
                      <a:r>
                        <a:rPr lang="en-US" dirty="0" smtClean="0"/>
                        <a:t>1970</a:t>
                      </a:r>
                      <a:endParaRPr lang="en-US" dirty="0"/>
                    </a:p>
                  </a:txBody>
                  <a:tcPr/>
                </a:tc>
                <a:tc>
                  <a:txBody>
                    <a:bodyPr/>
                    <a:lstStyle/>
                    <a:p>
                      <a:r>
                        <a:rPr lang="en-US" dirty="0" smtClean="0"/>
                        <a:t>LS123</a:t>
                      </a:r>
                    </a:p>
                    <a:p>
                      <a:endParaRPr lang="en-US" dirty="0"/>
                    </a:p>
                  </a:txBody>
                  <a:tcPr/>
                </a:tc>
              </a:tr>
              <a:tr h="619760">
                <a:tc>
                  <a:txBody>
                    <a:bodyPr/>
                    <a:lstStyle/>
                    <a:p>
                      <a:r>
                        <a:rPr lang="en-US" dirty="0" smtClean="0"/>
                        <a:t>Wings of Fire</a:t>
                      </a:r>
                      <a:endParaRPr lang="en-US" dirty="0"/>
                    </a:p>
                  </a:txBody>
                  <a:tcPr/>
                </a:tc>
                <a:tc>
                  <a:txBody>
                    <a:bodyPr/>
                    <a:lstStyle/>
                    <a:p>
                      <a:r>
                        <a:rPr lang="en-US" dirty="0" smtClean="0"/>
                        <a:t>APJ Abdul Kalam</a:t>
                      </a:r>
                      <a:endParaRPr lang="en-US" dirty="0"/>
                    </a:p>
                  </a:txBody>
                  <a:tcPr/>
                </a:tc>
                <a:tc>
                  <a:txBody>
                    <a:bodyPr/>
                    <a:lstStyle/>
                    <a:p>
                      <a:r>
                        <a:rPr lang="en-US" dirty="0" smtClean="0"/>
                        <a:t>1999</a:t>
                      </a:r>
                      <a:endParaRPr lang="en-US" dirty="0"/>
                    </a:p>
                  </a:txBody>
                  <a:tcPr/>
                </a:tc>
                <a:tc>
                  <a:txBody>
                    <a:bodyPr/>
                    <a:lstStyle/>
                    <a:p>
                      <a:r>
                        <a:rPr lang="en-US" dirty="0" smtClean="0"/>
                        <a:t>WOF123</a:t>
                      </a:r>
                      <a:endParaRPr lang="en-US" dirty="0"/>
                    </a:p>
                  </a:txBody>
                  <a:tcPr/>
                </a:tc>
              </a:tr>
              <a:tr h="619760">
                <a:tc>
                  <a:txBody>
                    <a:bodyPr/>
                    <a:lstStyle/>
                    <a:p>
                      <a:r>
                        <a:rPr lang="en-US" dirty="0" smtClean="0"/>
                        <a:t>Let us C</a:t>
                      </a:r>
                      <a:endParaRPr lang="en-US" dirty="0"/>
                    </a:p>
                  </a:txBody>
                  <a:tcPr/>
                </a:tc>
                <a:tc>
                  <a:txBody>
                    <a:bodyPr/>
                    <a:lstStyle/>
                    <a:p>
                      <a:r>
                        <a:rPr lang="en-US" dirty="0" smtClean="0"/>
                        <a:t>Yashvanth</a:t>
                      </a:r>
                    </a:p>
                    <a:p>
                      <a:r>
                        <a:rPr lang="en-US" dirty="0" smtClean="0"/>
                        <a:t>Kanetkar</a:t>
                      </a:r>
                      <a:endParaRPr lang="en-US" dirty="0"/>
                    </a:p>
                  </a:txBody>
                  <a:tcPr/>
                </a:tc>
                <a:tc>
                  <a:txBody>
                    <a:bodyPr/>
                    <a:lstStyle/>
                    <a:p>
                      <a:r>
                        <a:rPr lang="en-US" dirty="0" smtClean="0"/>
                        <a:t>2016</a:t>
                      </a:r>
                      <a:endParaRPr lang="en-US" dirty="0"/>
                    </a:p>
                  </a:txBody>
                  <a:tcPr/>
                </a:tc>
                <a:tc>
                  <a:txBody>
                    <a:bodyPr/>
                    <a:lstStyle/>
                    <a:p>
                      <a:r>
                        <a:rPr lang="en-US" dirty="0" smtClean="0"/>
                        <a:t>LUC123</a:t>
                      </a:r>
                      <a:endParaRPr lang="en-US" dirty="0"/>
                    </a:p>
                  </a:txBody>
                  <a:tcPr/>
                </a:tc>
              </a:tr>
            </a:tbl>
          </a:graphicData>
        </a:graphic>
      </p:graphicFrame>
      <p:pic>
        <p:nvPicPr>
          <p:cNvPr id="8" name="Picture 7" descr="back_end.jpg"/>
          <p:cNvPicPr>
            <a:picLocks noChangeAspect="1"/>
          </p:cNvPicPr>
          <p:nvPr/>
        </p:nvPicPr>
        <p:blipFill>
          <a:blip r:embed="rId3"/>
          <a:stretch>
            <a:fillRect/>
          </a:stretch>
        </p:blipFill>
        <p:spPr>
          <a:xfrm>
            <a:off x="3886201" y="1828800"/>
            <a:ext cx="5257799" cy="3276600"/>
          </a:xfrm>
          <a:prstGeom prst="rect">
            <a:avLst/>
          </a:prstGeom>
        </p:spPr>
      </p:pic>
      <p:sp>
        <p:nvSpPr>
          <p:cNvPr id="9" name="TextBox 8"/>
          <p:cNvSpPr txBox="1"/>
          <p:nvPr/>
        </p:nvSpPr>
        <p:spPr>
          <a:xfrm>
            <a:off x="533400" y="5562600"/>
            <a:ext cx="2895600" cy="400110"/>
          </a:xfrm>
          <a:prstGeom prst="rect">
            <a:avLst/>
          </a:prstGeom>
          <a:noFill/>
        </p:spPr>
        <p:txBody>
          <a:bodyPr wrap="square" rtlCol="0">
            <a:spAutoFit/>
          </a:bodyPr>
          <a:lstStyle/>
          <a:p>
            <a:r>
              <a:rPr lang="en-US" sz="2000" dirty="0" smtClean="0"/>
              <a:t>Relational Database </a:t>
            </a:r>
            <a:endParaRPr lang="en-US" sz="2000" dirty="0"/>
          </a:p>
        </p:txBody>
      </p:sp>
      <p:sp>
        <p:nvSpPr>
          <p:cNvPr id="10" name="TextBox 9"/>
          <p:cNvSpPr txBox="1"/>
          <p:nvPr/>
        </p:nvSpPr>
        <p:spPr>
          <a:xfrm>
            <a:off x="5105400" y="5562600"/>
            <a:ext cx="3276600" cy="400110"/>
          </a:xfrm>
          <a:prstGeom prst="rect">
            <a:avLst/>
          </a:prstGeom>
          <a:noFill/>
        </p:spPr>
        <p:txBody>
          <a:bodyPr wrap="square" rtlCol="0">
            <a:spAutoFit/>
          </a:bodyPr>
          <a:lstStyle/>
          <a:p>
            <a:r>
              <a:rPr lang="en-US" sz="2000" dirty="0" smtClean="0"/>
              <a:t>         Books.db file</a:t>
            </a:r>
            <a:endParaRPr lang="en-US" sz="2000" dirty="0"/>
          </a:p>
        </p:txBody>
      </p:sp>
    </p:spTree>
  </p:cSld>
  <p:clrMapOvr>
    <a:masterClrMapping/>
  </p:clrMapOvr>
  <p:transition spd="slow">
    <p:wipe dir="r"/>
    <p:sndAc>
      <p:stSnd>
        <p:snd r:embed="rId2" name="click.wav" builtIn="1"/>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0"/>
            <a:ext cx="9144000" cy="6857999"/>
          </a:xfrm>
        </p:spPr>
      </p:pic>
      <p:sp>
        <p:nvSpPr>
          <p:cNvPr id="5" name="TextBox 4"/>
          <p:cNvSpPr txBox="1"/>
          <p:nvPr/>
        </p:nvSpPr>
        <p:spPr>
          <a:xfrm>
            <a:off x="228600" y="533400"/>
            <a:ext cx="7315200" cy="707886"/>
          </a:xfrm>
          <a:prstGeom prst="rect">
            <a:avLst/>
          </a:prstGeom>
          <a:noFill/>
        </p:spPr>
        <p:txBody>
          <a:bodyPr wrap="square" rtlCol="0">
            <a:spAutoFit/>
          </a:bodyPr>
          <a:lstStyle/>
          <a:p>
            <a:r>
              <a:rPr lang="en-US" sz="4000" b="1" dirty="0" smtClean="0">
                <a:solidFill>
                  <a:srgbClr val="C00000"/>
                </a:solidFill>
                <a:latin typeface="Comic Sans MS" pitchFamily="66" charset="0"/>
              </a:rPr>
              <a:t>      Application Features</a:t>
            </a:r>
            <a:endParaRPr lang="en-US" sz="4000" b="1" dirty="0">
              <a:solidFill>
                <a:srgbClr val="C00000"/>
              </a:solidFill>
              <a:latin typeface="Comic Sans MS" pitchFamily="66" charset="0"/>
            </a:endParaRPr>
          </a:p>
        </p:txBody>
      </p:sp>
      <p:sp>
        <p:nvSpPr>
          <p:cNvPr id="6" name="TextBox 5"/>
          <p:cNvSpPr txBox="1"/>
          <p:nvPr/>
        </p:nvSpPr>
        <p:spPr>
          <a:xfrm>
            <a:off x="0" y="1752600"/>
            <a:ext cx="9144000" cy="5016758"/>
          </a:xfrm>
          <a:prstGeom prst="rect">
            <a:avLst/>
          </a:prstGeom>
          <a:noFill/>
        </p:spPr>
        <p:txBody>
          <a:bodyPr wrap="square" rtlCol="0">
            <a:spAutoFit/>
          </a:bodyPr>
          <a:lstStyle/>
          <a:p>
            <a:pPr marL="342900" indent="-342900">
              <a:buFont typeface="+mj-lt"/>
              <a:buAutoNum type="arabicPeriod"/>
            </a:pPr>
            <a:r>
              <a:rPr lang="en-US" sz="2000" b="1" dirty="0" smtClean="0">
                <a:latin typeface="Comic Sans MS" pitchFamily="66" charset="0"/>
              </a:rPr>
              <a:t>View All Entries : </a:t>
            </a:r>
            <a:r>
              <a:rPr lang="en-US" sz="2000" dirty="0" smtClean="0">
                <a:latin typeface="Comic Sans MS" pitchFamily="66" charset="0"/>
              </a:rPr>
              <a:t>This button allows user to view values of all attributes of entries </a:t>
            </a:r>
            <a:r>
              <a:rPr lang="en-US" sz="2000" smtClean="0">
                <a:latin typeface="Comic Sans MS" pitchFamily="66" charset="0"/>
              </a:rPr>
              <a:t>at once that </a:t>
            </a:r>
            <a:r>
              <a:rPr lang="en-US" sz="2000" dirty="0" smtClean="0">
                <a:latin typeface="Comic Sans MS" pitchFamily="66" charset="0"/>
              </a:rPr>
              <a:t>are present in database of this application.</a:t>
            </a:r>
          </a:p>
          <a:p>
            <a:pPr marL="342900" indent="-342900">
              <a:buFont typeface="+mj-lt"/>
              <a:buAutoNum type="arabicPeriod"/>
            </a:pPr>
            <a:r>
              <a:rPr lang="en-US" sz="2000" b="1" dirty="0" smtClean="0">
                <a:latin typeface="Comic Sans MS" pitchFamily="66" charset="0"/>
              </a:rPr>
              <a:t> Search Entry: </a:t>
            </a:r>
            <a:r>
              <a:rPr lang="en-US" sz="2000" dirty="0" smtClean="0">
                <a:latin typeface="Comic Sans MS" pitchFamily="66" charset="0"/>
              </a:rPr>
              <a:t>This button allows user to search a particular entry from the database according to value of the attribute or attributes supplied by the user. The user has to enter the value of any of the attributes of the entry he/she wishes to search and then click on “Search Entry” button. After clicking the button the desired entry will appear in the List Box.</a:t>
            </a:r>
          </a:p>
          <a:p>
            <a:pPr marL="342900" indent="-342900">
              <a:buFont typeface="+mj-lt"/>
              <a:buAutoNum type="arabicPeriod"/>
            </a:pPr>
            <a:r>
              <a:rPr lang="en-US" sz="2000" b="1" dirty="0" smtClean="0">
                <a:latin typeface="Comic Sans MS" pitchFamily="66" charset="0"/>
              </a:rPr>
              <a:t>Add Entry: </a:t>
            </a:r>
            <a:r>
              <a:rPr lang="en-US" sz="2000" dirty="0" smtClean="0">
                <a:latin typeface="Comic Sans MS" pitchFamily="66" charset="0"/>
              </a:rPr>
              <a:t>User can add new entry in the books database by filling the value of attributes for new entry in the textboxes and then click “Add Entry” button to add that entry in database.</a:t>
            </a:r>
          </a:p>
          <a:p>
            <a:pPr marL="342900" indent="-342900">
              <a:buFont typeface="+mj-lt"/>
              <a:buAutoNum type="arabicPeriod"/>
            </a:pPr>
            <a:r>
              <a:rPr lang="en-US" sz="2000" b="1" dirty="0" smtClean="0">
                <a:latin typeface="Comic Sans MS" pitchFamily="66" charset="0"/>
              </a:rPr>
              <a:t> Update Selected: </a:t>
            </a:r>
            <a:r>
              <a:rPr lang="en-US" sz="2000" dirty="0" smtClean="0">
                <a:latin typeface="Comic Sans MS" pitchFamily="66" charset="0"/>
              </a:rPr>
              <a:t>User can update the values of attributes of any previously stored entry in the database. First the desired entry must be searched by user and then values of its attributes are updated and then click on “Update Selected” button to save changes to database.</a:t>
            </a:r>
          </a:p>
        </p:txBody>
      </p:sp>
    </p:spTree>
  </p:cSld>
  <p:clrMapOvr>
    <a:masterClrMapping/>
  </p:clrMapOvr>
  <p:transition spd="slow">
    <p:wipe dir="r"/>
    <p:sndAc>
      <p:stSnd>
        <p:snd r:embed="rId2" name="click.wav" builtIn="1"/>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0"/>
            <a:ext cx="9144000" cy="6857999"/>
          </a:xfrm>
        </p:spPr>
      </p:pic>
      <p:sp>
        <p:nvSpPr>
          <p:cNvPr id="5" name="TextBox 4"/>
          <p:cNvSpPr txBox="1"/>
          <p:nvPr/>
        </p:nvSpPr>
        <p:spPr>
          <a:xfrm>
            <a:off x="0" y="1981200"/>
            <a:ext cx="9144000" cy="2246769"/>
          </a:xfrm>
          <a:prstGeom prst="rect">
            <a:avLst/>
          </a:prstGeom>
          <a:noFill/>
        </p:spPr>
        <p:txBody>
          <a:bodyPr wrap="square" rtlCol="0">
            <a:spAutoFit/>
          </a:bodyPr>
          <a:lstStyle/>
          <a:p>
            <a:pPr marL="342900" indent="-342900"/>
            <a:r>
              <a:rPr lang="en-US" sz="2000" b="1" dirty="0" smtClean="0">
                <a:latin typeface="Comic Sans MS" pitchFamily="66" charset="0"/>
              </a:rPr>
              <a:t>5. Delete Selected: </a:t>
            </a:r>
            <a:r>
              <a:rPr lang="en-US" sz="2000" dirty="0" smtClean="0">
                <a:latin typeface="Comic Sans MS" pitchFamily="66" charset="0"/>
              </a:rPr>
              <a:t>User can also delete any previously stored entry from database by searching that entry and then selecting that entry in List Box and then click on “Delete Selected” button to delete that entry.</a:t>
            </a:r>
          </a:p>
          <a:p>
            <a:pPr marL="342900" indent="-342900"/>
            <a:r>
              <a:rPr lang="en-US" sz="2000" b="1" dirty="0" smtClean="0">
                <a:latin typeface="Comic Sans MS" pitchFamily="66" charset="0"/>
              </a:rPr>
              <a:t>6. Close: </a:t>
            </a:r>
            <a:r>
              <a:rPr lang="en-US" sz="2000" dirty="0" smtClean="0">
                <a:latin typeface="Comic Sans MS" pitchFamily="66" charset="0"/>
              </a:rPr>
              <a:t>After all work of user is done application window can be closed either by clicking on “Close” button or clicking on cross button at the top right corner of the window.</a:t>
            </a:r>
            <a:endParaRPr lang="en-US" sz="2000" b="1" dirty="0" smtClean="0">
              <a:latin typeface="Comic Sans MS" pitchFamily="66" charset="0"/>
            </a:endParaRPr>
          </a:p>
          <a:p>
            <a:endParaRPr lang="en-US" sz="2000" dirty="0">
              <a:latin typeface="Comic Sans MS" pitchFamily="66" charset="0"/>
            </a:endParaRPr>
          </a:p>
        </p:txBody>
      </p:sp>
    </p:spTree>
  </p:cSld>
  <p:clrMapOvr>
    <a:masterClrMapping/>
  </p:clrMapOvr>
  <p:transition spd="slow">
    <p:wipe dir="r"/>
    <p:sndAc>
      <p:stSnd>
        <p:snd r:embed="rId2" name="click.wav" builtIn="1"/>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1.jpg"/>
          <p:cNvPicPr>
            <a:picLocks noChangeAspect="1"/>
          </p:cNvPicPr>
          <p:nvPr/>
        </p:nvPicPr>
        <p:blipFill>
          <a:blip r:embed="rId3"/>
          <a:stretch>
            <a:fillRect/>
          </a:stretch>
        </p:blipFill>
        <p:spPr>
          <a:xfrm>
            <a:off x="381000" y="457200"/>
            <a:ext cx="4800600" cy="2743200"/>
          </a:xfrm>
          <a:prstGeom prst="rect">
            <a:avLst/>
          </a:prstGeom>
        </p:spPr>
      </p:pic>
      <p:pic>
        <p:nvPicPr>
          <p:cNvPr id="6" name="Picture 5" descr="i2.jpg"/>
          <p:cNvPicPr>
            <a:picLocks noChangeAspect="1"/>
          </p:cNvPicPr>
          <p:nvPr/>
        </p:nvPicPr>
        <p:blipFill>
          <a:blip r:embed="rId4"/>
          <a:stretch>
            <a:fillRect/>
          </a:stretch>
        </p:blipFill>
        <p:spPr>
          <a:xfrm>
            <a:off x="304800" y="3581400"/>
            <a:ext cx="4933371" cy="3114998"/>
          </a:xfrm>
          <a:prstGeom prst="rect">
            <a:avLst/>
          </a:prstGeom>
        </p:spPr>
      </p:pic>
      <p:sp>
        <p:nvSpPr>
          <p:cNvPr id="7" name="TextBox 6"/>
          <p:cNvSpPr txBox="1"/>
          <p:nvPr/>
        </p:nvSpPr>
        <p:spPr>
          <a:xfrm>
            <a:off x="5334000" y="914400"/>
            <a:ext cx="3505200" cy="1384995"/>
          </a:xfrm>
          <a:prstGeom prst="rect">
            <a:avLst/>
          </a:prstGeom>
          <a:noFill/>
        </p:spPr>
        <p:txBody>
          <a:bodyPr wrap="square" rtlCol="0">
            <a:spAutoFit/>
          </a:bodyPr>
          <a:lstStyle/>
          <a:p>
            <a:r>
              <a:rPr lang="en-US" sz="2800" dirty="0" smtClean="0">
                <a:latin typeface="Comic Sans MS" pitchFamily="66" charset="0"/>
              </a:rPr>
              <a:t>This is the output for “View All” button.</a:t>
            </a:r>
            <a:endParaRPr lang="en-US" sz="2800" dirty="0">
              <a:latin typeface="Comic Sans MS" pitchFamily="66" charset="0"/>
            </a:endParaRPr>
          </a:p>
        </p:txBody>
      </p:sp>
      <p:sp>
        <p:nvSpPr>
          <p:cNvPr id="8" name="TextBox 7"/>
          <p:cNvSpPr txBox="1"/>
          <p:nvPr/>
        </p:nvSpPr>
        <p:spPr>
          <a:xfrm>
            <a:off x="5334000" y="4419600"/>
            <a:ext cx="3581400" cy="1384995"/>
          </a:xfrm>
          <a:prstGeom prst="rect">
            <a:avLst/>
          </a:prstGeom>
          <a:noFill/>
        </p:spPr>
        <p:txBody>
          <a:bodyPr wrap="square" rtlCol="0">
            <a:spAutoFit/>
          </a:bodyPr>
          <a:lstStyle/>
          <a:p>
            <a:r>
              <a:rPr lang="en-US" sz="2800" dirty="0" smtClean="0">
                <a:latin typeface="Comic Sans MS" pitchFamily="66" charset="0"/>
              </a:rPr>
              <a:t>This is the output for “Search Entry” button</a:t>
            </a:r>
            <a:endParaRPr lang="en-US" sz="2800" dirty="0">
              <a:latin typeface="Comic Sans MS" pitchFamily="66" charset="0"/>
            </a:endParaRPr>
          </a:p>
        </p:txBody>
      </p:sp>
    </p:spTree>
  </p:cSld>
  <p:clrMapOvr>
    <a:masterClrMapping/>
  </p:clrMapOvr>
  <p:transition spd="slow">
    <p:wipe dir="r"/>
    <p:sndAc>
      <p:stSnd>
        <p:snd r:embed="rId2" name="click.wav" builtIn="1"/>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bg2.jpg"/>
          <p:cNvPicPr>
            <a:picLocks noGrp="1" noChangeAspect="1"/>
          </p:cNvPicPr>
          <p:nvPr>
            <p:ph idx="1"/>
          </p:nvPr>
        </p:nvPicPr>
        <p:blipFill>
          <a:blip r:embed="rId3">
            <a:duotone>
              <a:schemeClr val="bg2">
                <a:shade val="45000"/>
                <a:satMod val="135000"/>
              </a:schemeClr>
              <a:prstClr val="white"/>
            </a:duotone>
          </a:blip>
          <a:stretch>
            <a:fillRect/>
          </a:stretch>
        </p:blipFill>
        <p:spPr>
          <a:xfrm>
            <a:off x="0" y="0"/>
            <a:ext cx="9144000" cy="6857999"/>
          </a:xfrm>
        </p:spPr>
      </p:pic>
      <p:sp>
        <p:nvSpPr>
          <p:cNvPr id="5" name="TextBox 4"/>
          <p:cNvSpPr txBox="1"/>
          <p:nvPr/>
        </p:nvSpPr>
        <p:spPr>
          <a:xfrm>
            <a:off x="1447800" y="304800"/>
            <a:ext cx="6324600" cy="707886"/>
          </a:xfrm>
          <a:prstGeom prst="rect">
            <a:avLst/>
          </a:prstGeom>
          <a:noFill/>
        </p:spPr>
        <p:txBody>
          <a:bodyPr wrap="square" rtlCol="0">
            <a:spAutoFit/>
          </a:bodyPr>
          <a:lstStyle/>
          <a:p>
            <a:r>
              <a:rPr lang="en-US" sz="4000" b="1" dirty="0" smtClean="0">
                <a:solidFill>
                  <a:srgbClr val="C00000"/>
                </a:solidFill>
                <a:latin typeface="Comic Sans MS" pitchFamily="66" charset="0"/>
              </a:rPr>
              <a:t>      References </a:t>
            </a:r>
            <a:endParaRPr lang="en-US" sz="4000" b="1" dirty="0">
              <a:solidFill>
                <a:srgbClr val="C00000"/>
              </a:solidFill>
              <a:latin typeface="Comic Sans MS" pitchFamily="66" charset="0"/>
            </a:endParaRPr>
          </a:p>
        </p:txBody>
      </p:sp>
      <p:sp>
        <p:nvSpPr>
          <p:cNvPr id="6" name="TextBox 5"/>
          <p:cNvSpPr txBox="1"/>
          <p:nvPr/>
        </p:nvSpPr>
        <p:spPr>
          <a:xfrm>
            <a:off x="0" y="1752600"/>
            <a:ext cx="9144000" cy="4093428"/>
          </a:xfrm>
          <a:prstGeom prst="rect">
            <a:avLst/>
          </a:prstGeom>
          <a:noFill/>
        </p:spPr>
        <p:txBody>
          <a:bodyPr wrap="square" rtlCol="0">
            <a:spAutoFit/>
          </a:bodyPr>
          <a:lstStyle/>
          <a:p>
            <a:pPr marL="342900" indent="-342900">
              <a:buFont typeface="+mj-lt"/>
              <a:buAutoNum type="arabicPeriod"/>
            </a:pPr>
            <a:r>
              <a:rPr lang="en-US" sz="2000" b="1" dirty="0" smtClean="0">
                <a:latin typeface="Comic Sans MS" pitchFamily="66" charset="0"/>
              </a:rPr>
              <a:t>Google Images: </a:t>
            </a:r>
            <a:r>
              <a:rPr lang="en-US" sz="2000" dirty="0" smtClean="0">
                <a:latin typeface="Comic Sans MS" pitchFamily="66" charset="0"/>
                <a:hlinkClick r:id="rId4"/>
              </a:rPr>
              <a:t>https://www.google.co.in/imghp?hl=en&amp;tab=wi&amp;authuser=0</a:t>
            </a:r>
            <a:endParaRPr lang="en-US" sz="2000" dirty="0" smtClean="0">
              <a:latin typeface="Comic Sans MS" pitchFamily="66" charset="0"/>
            </a:endParaRPr>
          </a:p>
          <a:p>
            <a:pPr marL="342900" indent="-342900">
              <a:buFont typeface="+mj-lt"/>
              <a:buAutoNum type="arabicPeriod"/>
            </a:pPr>
            <a:endParaRPr lang="en-US" sz="2000" dirty="0" smtClean="0">
              <a:latin typeface="Comic Sans MS" pitchFamily="66" charset="0"/>
            </a:endParaRPr>
          </a:p>
          <a:p>
            <a:pPr marL="342900" indent="-342900">
              <a:buFont typeface="+mj-lt"/>
              <a:buAutoNum type="arabicPeriod"/>
            </a:pPr>
            <a:r>
              <a:rPr lang="en-US" sz="2000" b="1" dirty="0" smtClean="0">
                <a:latin typeface="Comic Sans MS" pitchFamily="66" charset="0"/>
              </a:rPr>
              <a:t>Tutorials Point: </a:t>
            </a:r>
          </a:p>
          <a:p>
            <a:pPr marL="342900" indent="-342900">
              <a:buFont typeface="Arial" pitchFamily="34" charset="0"/>
              <a:buChar char="•"/>
            </a:pPr>
            <a:r>
              <a:rPr lang="en-US" sz="2000" dirty="0" smtClean="0">
                <a:latin typeface="Comic Sans MS" pitchFamily="66" charset="0"/>
                <a:hlinkClick r:id="rId5"/>
              </a:rPr>
              <a:t>https://www.tutorialspoint.com/python/python_gui_programming.htm</a:t>
            </a:r>
            <a:endParaRPr lang="en-US" sz="2000" dirty="0" smtClean="0">
              <a:latin typeface="Comic Sans MS" pitchFamily="66" charset="0"/>
            </a:endParaRPr>
          </a:p>
          <a:p>
            <a:pPr marL="342900" indent="-342900">
              <a:buFont typeface="Arial" pitchFamily="34" charset="0"/>
              <a:buChar char="•"/>
            </a:pPr>
            <a:r>
              <a:rPr lang="en-US" sz="2000" dirty="0" smtClean="0">
                <a:latin typeface="Comic Sans MS" pitchFamily="66" charset="0"/>
                <a:hlinkClick r:id="rId6"/>
              </a:rPr>
              <a:t>https://www.tutorialspoint.com/sqlite/sqlite_python.htm</a:t>
            </a:r>
            <a:endParaRPr lang="en-US" sz="2000" dirty="0" smtClean="0">
              <a:latin typeface="Comic Sans MS" pitchFamily="66" charset="0"/>
            </a:endParaRPr>
          </a:p>
          <a:p>
            <a:pPr marL="342900" indent="-342900"/>
            <a:endParaRPr lang="en-US" sz="2000" dirty="0" smtClean="0">
              <a:latin typeface="Comic Sans MS" pitchFamily="66" charset="0"/>
            </a:endParaRPr>
          </a:p>
          <a:p>
            <a:pPr marL="342900" indent="-342900"/>
            <a:r>
              <a:rPr lang="en-US" sz="2000" b="1" dirty="0" smtClean="0">
                <a:latin typeface="Comic Sans MS" pitchFamily="66" charset="0"/>
              </a:rPr>
              <a:t>3. Wikipedia:</a:t>
            </a:r>
          </a:p>
          <a:p>
            <a:pPr marL="342900" indent="-342900"/>
            <a:r>
              <a:rPr lang="en-US" sz="2000" dirty="0" smtClean="0">
                <a:latin typeface="Comic Sans MS" pitchFamily="66" charset="0"/>
              </a:rPr>
              <a:t>	</a:t>
            </a:r>
            <a:r>
              <a:rPr lang="en-US" sz="2000" dirty="0" smtClean="0">
                <a:latin typeface="Comic Sans MS" pitchFamily="66" charset="0"/>
                <a:hlinkClick r:id="rId7"/>
              </a:rPr>
              <a:t>https://www.wikipedia.org/</a:t>
            </a:r>
            <a:endParaRPr lang="en-US" sz="2000" dirty="0" smtClean="0">
              <a:latin typeface="Comic Sans MS" pitchFamily="66" charset="0"/>
            </a:endParaRPr>
          </a:p>
          <a:p>
            <a:pPr marL="342900" indent="-342900"/>
            <a:endParaRPr lang="en-US" sz="2000" dirty="0" smtClean="0">
              <a:latin typeface="Comic Sans MS" pitchFamily="66" charset="0"/>
            </a:endParaRPr>
          </a:p>
          <a:p>
            <a:pPr marL="342900" indent="-342900"/>
            <a:r>
              <a:rPr lang="en-US" sz="2000" b="1" dirty="0" smtClean="0">
                <a:latin typeface="Comic Sans MS" pitchFamily="66" charset="0"/>
              </a:rPr>
              <a:t>4. Udemy:</a:t>
            </a:r>
          </a:p>
          <a:p>
            <a:pPr marL="342900" indent="-342900"/>
            <a:r>
              <a:rPr lang="en-US" sz="2000" dirty="0" smtClean="0">
                <a:latin typeface="Comic Sans MS" pitchFamily="66" charset="0"/>
              </a:rPr>
              <a:t>	</a:t>
            </a:r>
            <a:r>
              <a:rPr lang="en-US" sz="2000" dirty="0" smtClean="0">
                <a:latin typeface="Comic Sans MS" pitchFamily="66" charset="0"/>
                <a:hlinkClick r:id="rId8"/>
              </a:rPr>
              <a:t>https://www.udemy.com/complete-python-bootcamp/</a:t>
            </a:r>
            <a:endParaRPr lang="en-US" sz="2000" dirty="0" smtClean="0">
              <a:latin typeface="Comic Sans MS" pitchFamily="66" charset="0"/>
            </a:endParaRPr>
          </a:p>
          <a:p>
            <a:pPr marL="342900" indent="-342900"/>
            <a:endParaRPr lang="en-US" sz="2000" dirty="0" smtClean="0">
              <a:latin typeface="Comic Sans MS" pitchFamily="66" charset="0"/>
            </a:endParaRPr>
          </a:p>
        </p:txBody>
      </p:sp>
    </p:spTree>
  </p:cSld>
  <p:clrMapOvr>
    <a:masterClrMapping/>
  </p:clrMapOvr>
  <p:transition spd="slow">
    <p:wipe dir="r"/>
    <p:sndAc>
      <p:stSnd>
        <p:snd r:embed="rId2" name="click.wav" builtIn="1"/>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wnload.jpg"/>
          <p:cNvPicPr>
            <a:picLocks noChangeAspect="1"/>
          </p:cNvPicPr>
          <p:nvPr/>
        </p:nvPicPr>
        <p:blipFill>
          <a:blip r:embed="rId3"/>
          <a:stretch>
            <a:fillRect/>
          </a:stretch>
        </p:blipFill>
        <p:spPr>
          <a:xfrm>
            <a:off x="9821" y="-15309"/>
            <a:ext cx="9134179" cy="6873309"/>
          </a:xfrm>
          <a:prstGeom prst="rect">
            <a:avLst/>
          </a:prstGeom>
        </p:spPr>
      </p:pic>
    </p:spTree>
  </p:cSld>
  <p:clrMapOvr>
    <a:masterClrMapping/>
  </p:clrMapOvr>
  <p:transition spd="slow">
    <p:randomBar dir="vert"/>
    <p:sndAc>
      <p:stSnd>
        <p:snd r:embed="rId2" name="applause.wav" builtIn="1"/>
      </p:stSnd>
    </p:sndAc>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867</Words>
  <Application>Microsoft Office PowerPoint</Application>
  <PresentationFormat>On-screen Show (4:3)</PresentationFormat>
  <Paragraphs>106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Anurag Rocker</dc:creator>
  <cp:lastModifiedBy>Anurag Rocker</cp:lastModifiedBy>
  <cp:revision>38</cp:revision>
  <dcterms:created xsi:type="dcterms:W3CDTF">2018-10-24T14:04:26Z</dcterms:created>
  <dcterms:modified xsi:type="dcterms:W3CDTF">2018-10-25T16:54:50Z</dcterms:modified>
</cp:coreProperties>
</file>